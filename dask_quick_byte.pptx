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20"/>
  </p:notesMasterIdLst>
  <p:sldIdLst>
    <p:sldId id="274" r:id="rId5"/>
    <p:sldId id="257" r:id="rId6"/>
    <p:sldId id="258" r:id="rId7"/>
    <p:sldId id="259" r:id="rId8"/>
    <p:sldId id="260" r:id="rId9"/>
    <p:sldId id="261" r:id="rId10"/>
    <p:sldId id="262" r:id="rId11"/>
    <p:sldId id="263" r:id="rId12"/>
    <p:sldId id="264" r:id="rId13"/>
    <p:sldId id="265" r:id="rId14"/>
    <p:sldId id="268" r:id="rId15"/>
    <p:sldId id="266" r:id="rId16"/>
    <p:sldId id="267" r:id="rId17"/>
    <p:sldId id="269"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8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41"/>
    <p:restoredTop sz="93438" autoAdjust="0"/>
  </p:normalViewPr>
  <p:slideViewPr>
    <p:cSldViewPr snapToGrid="0">
      <p:cViewPr varScale="1">
        <p:scale>
          <a:sx n="183" d="100"/>
          <a:sy n="183" d="100"/>
        </p:scale>
        <p:origin x="232"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DA08D6-E137-3341-A5EE-84219A24203E}" type="datetimeFigureOut">
              <a:rPr lang="en-US" smtClean="0"/>
              <a:t>9/4/26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26901F-C6C3-9E47-9843-744856EDDD7A}" type="slidenum">
              <a:rPr lang="en-US" smtClean="0"/>
              <a:t>‹#›</a:t>
            </a:fld>
            <a:endParaRPr lang="en-US"/>
          </a:p>
        </p:txBody>
      </p:sp>
    </p:spTree>
    <p:extLst>
      <p:ext uri="{BB962C8B-B14F-4D97-AF65-F5344CB8AC3E}">
        <p14:creationId xmlns:p14="http://schemas.microsoft.com/office/powerpoint/2010/main" val="384540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1</a:t>
            </a:fld>
            <a:endParaRPr lang="en-US"/>
          </a:p>
        </p:txBody>
      </p:sp>
    </p:spTree>
    <p:extLst>
      <p:ext uri="{BB962C8B-B14F-4D97-AF65-F5344CB8AC3E}">
        <p14:creationId xmlns:p14="http://schemas.microsoft.com/office/powerpoint/2010/main" val="34627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22933-1853-3695-5698-EA2C873D55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339900-6690-4850-B14D-CFF0A6DDBA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03EF43-FA77-3703-DB72-C6218B0476B5}"/>
              </a:ext>
            </a:extLst>
          </p:cNvPr>
          <p:cNvSpPr>
            <a:spLocks noGrp="1"/>
          </p:cNvSpPr>
          <p:nvPr>
            <p:ph type="dt" sz="half" idx="10"/>
          </p:nvPr>
        </p:nvSpPr>
        <p:spPr>
          <a:xfrm>
            <a:off x="4724400" y="6356350"/>
            <a:ext cx="2743200" cy="365125"/>
          </a:xfrm>
          <a:prstGeom prst="rect">
            <a:avLst/>
          </a:prstGeom>
        </p:spPr>
        <p:txBody>
          <a:bodyPr/>
          <a:lstStyle/>
          <a:p>
            <a:pPr algn="ctr"/>
            <a:r>
              <a:rPr lang="en-US"/>
              <a:t>3/5/2025</a:t>
            </a:r>
          </a:p>
        </p:txBody>
      </p:sp>
      <p:sp>
        <p:nvSpPr>
          <p:cNvPr id="6" name="Slide Number Placeholder 5">
            <a:extLst>
              <a:ext uri="{FF2B5EF4-FFF2-40B4-BE49-F238E27FC236}">
                <a16:creationId xmlns:a16="http://schemas.microsoft.com/office/drawing/2014/main" id="{7F62B1B4-AC37-41B2-EB63-E0D769F470EA}"/>
              </a:ext>
            </a:extLst>
          </p:cNvPr>
          <p:cNvSpPr>
            <a:spLocks noGrp="1"/>
          </p:cNvSpPr>
          <p:nvPr>
            <p:ph type="sldNum" sz="quarter" idx="12"/>
          </p:nvPr>
        </p:nvSpPr>
        <p:spPr/>
        <p:txBody>
          <a:bodyPr/>
          <a:lstStyle/>
          <a:p>
            <a:fld id="{ABDA560F-461C-6043-9BC4-489BA92F7161}" type="slidenum">
              <a:rPr lang="en-US" smtClean="0"/>
              <a:t>‹#›</a:t>
            </a:fld>
            <a:endParaRPr lang="en-US"/>
          </a:p>
        </p:txBody>
      </p:sp>
    </p:spTree>
    <p:extLst>
      <p:ext uri="{BB962C8B-B14F-4D97-AF65-F5344CB8AC3E}">
        <p14:creationId xmlns:p14="http://schemas.microsoft.com/office/powerpoint/2010/main" val="2219838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E1D7D-D016-C86F-111E-51245E7BA7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0B542-AE2F-4E58-DD66-7DA9CB4445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321B0-98E4-9776-8ABB-72C7B07ABE94}"/>
              </a:ext>
            </a:extLst>
          </p:cNvPr>
          <p:cNvSpPr>
            <a:spLocks noGrp="1"/>
          </p:cNvSpPr>
          <p:nvPr>
            <p:ph type="dt" sz="half" idx="10"/>
          </p:nvPr>
        </p:nvSpPr>
        <p:spPr>
          <a:xfrm>
            <a:off x="4724400" y="6370515"/>
            <a:ext cx="2743200" cy="365125"/>
          </a:xfrm>
          <a:prstGeom prst="rect">
            <a:avLst/>
          </a:prstGeom>
        </p:spPr>
        <p:txBody>
          <a:bodyPr/>
          <a:lstStyle/>
          <a:p>
            <a:pPr algn="ctr"/>
            <a:r>
              <a:rPr lang="en-US"/>
              <a:t>3/5/2025</a:t>
            </a:r>
          </a:p>
        </p:txBody>
      </p:sp>
      <p:sp>
        <p:nvSpPr>
          <p:cNvPr id="6" name="Slide Number Placeholder 5">
            <a:extLst>
              <a:ext uri="{FF2B5EF4-FFF2-40B4-BE49-F238E27FC236}">
                <a16:creationId xmlns:a16="http://schemas.microsoft.com/office/drawing/2014/main" id="{F3E58BD9-1414-8B11-5258-F11F3BBA1358}"/>
              </a:ext>
            </a:extLst>
          </p:cNvPr>
          <p:cNvSpPr>
            <a:spLocks noGrp="1"/>
          </p:cNvSpPr>
          <p:nvPr>
            <p:ph type="sldNum" sz="quarter" idx="12"/>
          </p:nvPr>
        </p:nvSpPr>
        <p:spPr/>
        <p:txBody>
          <a:bodyPr/>
          <a:lstStyle/>
          <a:p>
            <a:fld id="{ABDA560F-461C-6043-9BC4-489BA92F7161}" type="slidenum">
              <a:rPr lang="en-US" smtClean="0"/>
              <a:t>‹#›</a:t>
            </a:fld>
            <a:endParaRPr lang="en-US"/>
          </a:p>
        </p:txBody>
      </p:sp>
    </p:spTree>
    <p:extLst>
      <p:ext uri="{BB962C8B-B14F-4D97-AF65-F5344CB8AC3E}">
        <p14:creationId xmlns:p14="http://schemas.microsoft.com/office/powerpoint/2010/main" val="1665646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FF543F-785B-81AD-859C-25E1E14F9B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A11285-AC5A-F005-FEA3-CACE5986B4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19AEED0-1DC9-A7B8-1AA0-116CA0EB67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DA560F-461C-6043-9BC4-489BA92F7161}" type="slidenum">
              <a:rPr lang="en-US" smtClean="0"/>
              <a:t>‹#›</a:t>
            </a:fld>
            <a:endParaRPr lang="en-US"/>
          </a:p>
        </p:txBody>
      </p:sp>
      <p:pic>
        <p:nvPicPr>
          <p:cNvPr id="8" name="Picture 7" descr="Shape&#10;&#10;Description automatically generated with medium confidence">
            <a:extLst>
              <a:ext uri="{FF2B5EF4-FFF2-40B4-BE49-F238E27FC236}">
                <a16:creationId xmlns:a16="http://schemas.microsoft.com/office/drawing/2014/main" id="{16A367C9-3AA6-1192-2565-6CDE4E3F4F0A}"/>
              </a:ext>
            </a:extLst>
          </p:cNvPr>
          <p:cNvPicPr>
            <a:picLocks noChangeAspect="1"/>
          </p:cNvPicPr>
          <p:nvPr userDrawn="1"/>
        </p:nvPicPr>
        <p:blipFill>
          <a:blip r:embed="rId4"/>
          <a:stretch>
            <a:fillRect/>
          </a:stretch>
        </p:blipFill>
        <p:spPr>
          <a:xfrm>
            <a:off x="0" y="6246811"/>
            <a:ext cx="4724400" cy="584200"/>
          </a:xfrm>
          <a:prstGeom prst="rect">
            <a:avLst/>
          </a:prstGeom>
        </p:spPr>
      </p:pic>
      <p:sp>
        <p:nvSpPr>
          <p:cNvPr id="9" name="Date Placeholder 8">
            <a:extLst>
              <a:ext uri="{FF2B5EF4-FFF2-40B4-BE49-F238E27FC236}">
                <a16:creationId xmlns:a16="http://schemas.microsoft.com/office/drawing/2014/main" id="{6CA2128F-B59B-98EB-B50C-F663F9DCCD82}"/>
              </a:ext>
            </a:extLst>
          </p:cNvPr>
          <p:cNvSpPr>
            <a:spLocks noGrp="1"/>
          </p:cNvSpPr>
          <p:nvPr>
            <p:ph type="dt" sz="half" idx="2"/>
          </p:nvPr>
        </p:nvSpPr>
        <p:spPr>
          <a:xfrm>
            <a:off x="4724400" y="6356349"/>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lgn="ctr"/>
            <a:r>
              <a:rPr lang="en-US"/>
              <a:t>3/5/2025</a:t>
            </a:r>
          </a:p>
        </p:txBody>
      </p:sp>
    </p:spTree>
    <p:extLst>
      <p:ext uri="{BB962C8B-B14F-4D97-AF65-F5344CB8AC3E}">
        <p14:creationId xmlns:p14="http://schemas.microsoft.com/office/powerpoint/2010/main" val="2504841742"/>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rc.colorado.edu/rc"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curc.readthedocs.io/en/latest/programming/dask.html"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ecorative photo of CU campus on title slide"/>
          <p:cNvPicPr>
            <a:picLocks noChangeAspect="1"/>
          </p:cNvPicPr>
          <p:nvPr/>
        </p:nvPicPr>
        <p:blipFill rotWithShape="1">
          <a:blip r:embed="rId3">
            <a:extLst>
              <a:ext uri="{28A0092B-C50C-407E-A947-70E740481C1C}">
                <a14:useLocalDpi xmlns:a14="http://schemas.microsoft.com/office/drawing/2010/main" val="0"/>
              </a:ext>
            </a:extLst>
          </a:blip>
          <a:srcRect b="39372"/>
          <a:stretch/>
        </p:blipFill>
        <p:spPr>
          <a:xfrm>
            <a:off x="0" y="0"/>
            <a:ext cx="12227404" cy="4713514"/>
          </a:xfrm>
          <a:prstGeom prst="rect">
            <a:avLst/>
          </a:prstGeom>
        </p:spPr>
      </p:pic>
      <p:sp>
        <p:nvSpPr>
          <p:cNvPr id="2" name="Title 1"/>
          <p:cNvSpPr>
            <a:spLocks noGrp="1"/>
          </p:cNvSpPr>
          <p:nvPr>
            <p:ph type="ctrTitle"/>
          </p:nvPr>
        </p:nvSpPr>
        <p:spPr>
          <a:xfrm>
            <a:off x="272822" y="4713514"/>
            <a:ext cx="10491414" cy="1465364"/>
          </a:xfrm>
          <a:effectLst/>
        </p:spPr>
        <p:txBody>
          <a:bodyPr>
            <a:noAutofit/>
          </a:bodyPr>
          <a:lstStyle/>
          <a:p>
            <a:pPr algn="l"/>
            <a:r>
              <a:rPr lang="en-US" sz="4800" dirty="0">
                <a:ln w="0"/>
                <a:effectLst>
                  <a:outerShdw blurRad="38100" dist="19050" dir="2700000" algn="tl" rotWithShape="0">
                    <a:schemeClr val="dk1">
                      <a:alpha val="40000"/>
                    </a:schemeClr>
                  </a:outerShdw>
                </a:effectLst>
                <a:ea typeface="+mj-lt"/>
                <a:cs typeface="+mj-lt"/>
              </a:rPr>
              <a:t>RC Quick Byte: Supercharge Your Python with </a:t>
            </a:r>
            <a:r>
              <a:rPr lang="en-US" sz="4800" dirty="0" err="1">
                <a:ln w="0"/>
                <a:effectLst>
                  <a:outerShdw blurRad="38100" dist="19050" dir="2700000" algn="tl" rotWithShape="0">
                    <a:schemeClr val="dk1">
                      <a:alpha val="40000"/>
                    </a:schemeClr>
                  </a:outerShdw>
                </a:effectLst>
                <a:ea typeface="+mj-lt"/>
                <a:cs typeface="+mj-lt"/>
              </a:rPr>
              <a:t>Dask</a:t>
            </a:r>
            <a:endParaRPr lang="en-US" sz="48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53206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normAutofit/>
          </a:bodyPr>
          <a:lstStyle/>
          <a:p>
            <a:pPr algn="l"/>
            <a:r>
              <a:rPr lang="en-US" sz="2600" b="1" i="0" dirty="0">
                <a:solidFill>
                  <a:srgbClr val="1A1A1A"/>
                </a:solidFill>
                <a:latin typeface="Century Gothic"/>
              </a:rPr>
              <a:t>Supercharge Your Python with </a:t>
            </a:r>
            <a:r>
              <a:rPr lang="en-US" sz="2600" b="1" i="0" dirty="0" err="1">
                <a:solidFill>
                  <a:srgbClr val="1A1A1A"/>
                </a:solidFill>
                <a:latin typeface="Century Gothic"/>
              </a:rPr>
              <a:t>Dask</a:t>
            </a:r>
            <a:endParaRPr sz="2600" b="1" i="0" dirty="0">
              <a:solidFill>
                <a:srgbClr val="1A1A1A"/>
              </a:solidFill>
              <a:latin typeface="Century Gothic"/>
            </a:endParaRP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2" y="1456095"/>
            <a:ext cx="7498079" cy="3344505"/>
          </a:xfrm>
          <a:prstGeom prst="rect">
            <a:avLst/>
          </a:prstGeom>
          <a:noFill/>
        </p:spPr>
        <p:txBody>
          <a:bodyPr wrap="square">
            <a:spAutoFit/>
          </a:bodyPr>
          <a:lstStyle/>
          <a:p>
            <a:pPr algn="l">
              <a:spcBef>
                <a:spcPts val="200"/>
              </a:spcBef>
              <a:spcAft>
                <a:spcPts val="1400"/>
              </a:spcAft>
            </a:pPr>
            <a:r>
              <a:rPr sz="2200" b="0" i="0" dirty="0">
                <a:solidFill>
                  <a:srgbClr val="2F2F2F"/>
                </a:solidFill>
                <a:latin typeface="Arial"/>
              </a:rPr>
              <a:t>•  Date: September 8, 2026</a:t>
            </a:r>
          </a:p>
          <a:p>
            <a:pPr algn="l">
              <a:spcBef>
                <a:spcPts val="200"/>
              </a:spcBef>
              <a:spcAft>
                <a:spcPts val="1400"/>
              </a:spcAft>
            </a:pPr>
            <a:r>
              <a:rPr sz="2200" b="0" i="0" dirty="0">
                <a:solidFill>
                  <a:srgbClr val="2F2F2F"/>
                </a:solidFill>
                <a:latin typeface="Arial"/>
              </a:rPr>
              <a:t>•  Instructor: Mohal Khandelwal</a:t>
            </a:r>
          </a:p>
          <a:p>
            <a:pPr algn="l">
              <a:spcBef>
                <a:spcPts val="200"/>
              </a:spcBef>
              <a:spcAft>
                <a:spcPts val="1400"/>
              </a:spcAft>
            </a:pPr>
            <a:r>
              <a:rPr sz="2200" b="0" i="0" dirty="0">
                <a:solidFill>
                  <a:srgbClr val="2F2F2F"/>
                </a:solidFill>
                <a:latin typeface="Arial"/>
              </a:rPr>
              <a:t>•  Website: </a:t>
            </a:r>
            <a:r>
              <a:rPr sz="2200" b="0" i="0" dirty="0">
                <a:solidFill>
                  <a:srgbClr val="2F2F2F"/>
                </a:solidFill>
                <a:latin typeface="Arial"/>
                <a:hlinkClick r:id="rId3"/>
              </a:rPr>
              <a:t>www.rc.colorado.edu/rc</a:t>
            </a:r>
            <a:endParaRPr lang="en-US" sz="2200" b="0" i="0" dirty="0">
              <a:solidFill>
                <a:srgbClr val="2F2F2F"/>
              </a:solidFill>
              <a:latin typeface="Arial"/>
            </a:endParaRPr>
          </a:p>
          <a:p>
            <a:pPr>
              <a:spcBef>
                <a:spcPts val="200"/>
              </a:spcBef>
              <a:spcAft>
                <a:spcPts val="1400"/>
              </a:spcAft>
            </a:pPr>
            <a:r>
              <a:rPr lang="en-US" sz="2200" dirty="0">
                <a:solidFill>
                  <a:srgbClr val="2F2F2F"/>
                </a:solidFill>
              </a:rPr>
              <a:t>•  Helpdesk: rc-help@colorado.edu</a:t>
            </a:r>
            <a:endParaRPr sz="2200" b="0" i="0" dirty="0">
              <a:solidFill>
                <a:srgbClr val="2F2F2F"/>
              </a:solidFill>
              <a:latin typeface="Arial"/>
            </a:endParaRPr>
          </a:p>
          <a:p>
            <a:pPr>
              <a:spcBef>
                <a:spcPts val="200"/>
              </a:spcBef>
              <a:spcAft>
                <a:spcPts val="1400"/>
              </a:spcAft>
            </a:pPr>
            <a:r>
              <a:rPr sz="2200" b="0" i="0" dirty="0">
                <a:solidFill>
                  <a:srgbClr val="2F2F2F"/>
                </a:solidFill>
                <a:latin typeface="Arial"/>
              </a:rPr>
              <a:t>•  Documentation:</a:t>
            </a:r>
            <a:r>
              <a:rPr lang="en-US" sz="2200" b="0" i="0" dirty="0">
                <a:solidFill>
                  <a:srgbClr val="2F2F2F"/>
                </a:solidFill>
                <a:latin typeface="Arial"/>
              </a:rPr>
              <a:t> </a:t>
            </a:r>
            <a:r>
              <a:rPr lang="en-US" sz="2400" dirty="0">
                <a:hlinkClick r:id="rId4"/>
              </a:rPr>
              <a:t>https://curc.readthedocs.io/en/latest/programming/dask.html</a:t>
            </a:r>
            <a:endParaRPr sz="2200" b="0" i="0" dirty="0">
              <a:solidFill>
                <a:srgbClr val="2F2F2F"/>
              </a:solidFill>
              <a:latin typeface="Arial"/>
            </a:endParaRPr>
          </a:p>
        </p:txBody>
      </p:sp>
      <p:sp>
        <p:nvSpPr>
          <p:cNvPr id="6" name="Rounded Rectangle 5">
            <a:extLst>
              <a:ext uri="{C183D7F6-B498-43B3-948B-1728B52AA6E4}">
                <adec:decorative xmlns:adec="http://schemas.microsoft.com/office/drawing/2017/decorative" val="1"/>
              </a:ext>
            </a:extLst>
          </p:cNvPr>
          <p:cNvSpPr/>
          <p:nvPr/>
        </p:nvSpPr>
        <p:spPr>
          <a:xfrm>
            <a:off x="8366760" y="1234440"/>
            <a:ext cx="3246120" cy="3931920"/>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0" y="1371600"/>
            <a:ext cx="2971800" cy="320040"/>
          </a:xfrm>
          <a:prstGeom prst="rect">
            <a:avLst/>
          </a:prstGeom>
          <a:noFill/>
        </p:spPr>
        <p:txBody>
          <a:bodyPr wrap="square" anchor="t"/>
          <a:lstStyle/>
          <a:p>
            <a:pPr algn="ctr">
              <a:spcBef>
                <a:spcPts val="0"/>
              </a:spcBef>
              <a:spcAft>
                <a:spcPts val="0"/>
              </a:spcAft>
            </a:pPr>
            <a:r>
              <a:rPr sz="1200" b="1" i="0">
                <a:solidFill>
                  <a:srgbClr val="007A87"/>
                </a:solidFill>
                <a:latin typeface="Arial"/>
              </a:rPr>
              <a:t>CURC DASK DOCS</a:t>
            </a:r>
          </a:p>
        </p:txBody>
      </p:sp>
      <p:pic>
        <p:nvPicPr>
          <p:cNvPr id="8" name="Picture 7" descr="QR Code for Online training Github Repo https://curc.readthedocs.io/en/latest/programming/dask.html"/>
          <p:cNvPicPr>
            <a:picLocks noChangeAspect="1"/>
          </p:cNvPicPr>
          <p:nvPr/>
        </p:nvPicPr>
        <p:blipFill>
          <a:blip r:embed="rId5"/>
          <a:stretch>
            <a:fillRect/>
          </a:stretch>
        </p:blipFill>
        <p:spPr>
          <a:xfrm>
            <a:off x="8732520" y="1737360"/>
            <a:ext cx="2606040" cy="2606040"/>
          </a:xfrm>
          <a:prstGeom prst="rect">
            <a:avLst/>
          </a:prstGeom>
        </p:spPr>
      </p:pic>
      <p:sp>
        <p:nvSpPr>
          <p:cNvPr id="9" name="TextBox 8"/>
          <p:cNvSpPr txBox="1"/>
          <p:nvPr/>
        </p:nvSpPr>
        <p:spPr>
          <a:xfrm>
            <a:off x="8503920" y="4434840"/>
            <a:ext cx="2971800" cy="731520"/>
          </a:xfrm>
          <a:prstGeom prst="rect">
            <a:avLst/>
          </a:prstGeom>
          <a:noFill/>
        </p:spPr>
        <p:txBody>
          <a:bodyPr wrap="square" anchor="t"/>
          <a:lstStyle/>
          <a:p>
            <a:pPr algn="ctr">
              <a:spcBef>
                <a:spcPts val="0"/>
              </a:spcBef>
              <a:spcAft>
                <a:spcPts val="0"/>
              </a:spcAft>
            </a:pPr>
            <a:r>
              <a:rPr sz="1200" b="0" i="0" dirty="0">
                <a:solidFill>
                  <a:srgbClr val="5C5C5C"/>
                </a:solidFill>
                <a:latin typeface="Arial"/>
              </a:rPr>
              <a:t>Scan for the full walkthrough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sz="3000" b="1" i="0">
                <a:solidFill>
                  <a:srgbClr val="1A1A1A"/>
                </a:solidFill>
                <a:latin typeface="Century Gothic"/>
              </a:rPr>
              <a:t>What you’ll learn</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02920" y="1115568"/>
            <a:ext cx="11155680" cy="658368"/>
          </a:xfrm>
          <a:prstGeom prst="roundRect">
            <a:avLst>
              <a:gd name="adj" fmla="val 10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261872"/>
            <a:ext cx="1005840" cy="384048"/>
          </a:xfrm>
          <a:prstGeom prst="rect">
            <a:avLst/>
          </a:prstGeom>
          <a:noFill/>
        </p:spPr>
        <p:txBody>
          <a:bodyPr wrap="square" anchor="t"/>
          <a:lstStyle/>
          <a:p>
            <a:pPr algn="l">
              <a:spcBef>
                <a:spcPts val="0"/>
              </a:spcBef>
              <a:spcAft>
                <a:spcPts val="0"/>
              </a:spcAft>
            </a:pPr>
            <a:r>
              <a:rPr sz="2200" b="1" i="0">
                <a:solidFill>
                  <a:srgbClr val="CFB87C"/>
                </a:solidFill>
                <a:latin typeface="Century Gothic"/>
              </a:rPr>
              <a:t>01</a:t>
            </a:r>
          </a:p>
        </p:txBody>
      </p:sp>
      <p:sp>
        <p:nvSpPr>
          <p:cNvPr id="7" name="TextBox 6"/>
          <p:cNvSpPr txBox="1"/>
          <p:nvPr/>
        </p:nvSpPr>
        <p:spPr>
          <a:xfrm>
            <a:off x="1783080" y="1261872"/>
            <a:ext cx="9509760" cy="384048"/>
          </a:xfrm>
          <a:prstGeom prst="rect">
            <a:avLst/>
          </a:prstGeom>
          <a:noFill/>
        </p:spPr>
        <p:txBody>
          <a:bodyPr wrap="square" anchor="t"/>
          <a:lstStyle/>
          <a:p>
            <a:pPr algn="l">
              <a:spcBef>
                <a:spcPts val="0"/>
              </a:spcBef>
              <a:spcAft>
                <a:spcPts val="0"/>
              </a:spcAft>
            </a:pPr>
            <a:r>
              <a:rPr sz="2200" b="0" i="0">
                <a:solidFill>
                  <a:srgbClr val="1A1A1A"/>
                </a:solidFill>
                <a:latin typeface="Arial"/>
              </a:rPr>
              <a:t>Why single-core Python hits a wall</a:t>
            </a:r>
          </a:p>
        </p:txBody>
      </p:sp>
      <p:sp>
        <p:nvSpPr>
          <p:cNvPr id="8" name="Rounded Rectangle 7">
            <a:extLst>
              <a:ext uri="{C183D7F6-B498-43B3-948B-1728B52AA6E4}">
                <adec:decorative xmlns:adec="http://schemas.microsoft.com/office/drawing/2017/decorative" val="1"/>
              </a:ext>
            </a:extLst>
          </p:cNvPr>
          <p:cNvSpPr/>
          <p:nvPr/>
        </p:nvSpPr>
        <p:spPr>
          <a:xfrm>
            <a:off x="502920" y="1865376"/>
            <a:ext cx="11155680" cy="658368"/>
          </a:xfrm>
          <a:prstGeom prst="roundRect">
            <a:avLst>
              <a:gd name="adj" fmla="val 10000"/>
            </a:avLst>
          </a:prstGeom>
          <a:solidFill>
            <a:srgbClr val="FFFFFF"/>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011680"/>
            <a:ext cx="1005840" cy="384048"/>
          </a:xfrm>
          <a:prstGeom prst="rect">
            <a:avLst/>
          </a:prstGeom>
          <a:noFill/>
        </p:spPr>
        <p:txBody>
          <a:bodyPr wrap="square" anchor="t"/>
          <a:lstStyle/>
          <a:p>
            <a:pPr algn="l">
              <a:spcBef>
                <a:spcPts val="0"/>
              </a:spcBef>
              <a:spcAft>
                <a:spcPts val="0"/>
              </a:spcAft>
            </a:pPr>
            <a:r>
              <a:rPr sz="2200" b="1" i="0">
                <a:solidFill>
                  <a:srgbClr val="CFB87C"/>
                </a:solidFill>
                <a:latin typeface="Century Gothic"/>
              </a:rPr>
              <a:t>02</a:t>
            </a:r>
          </a:p>
        </p:txBody>
      </p:sp>
      <p:sp>
        <p:nvSpPr>
          <p:cNvPr id="10" name="TextBox 9"/>
          <p:cNvSpPr txBox="1"/>
          <p:nvPr/>
        </p:nvSpPr>
        <p:spPr>
          <a:xfrm>
            <a:off x="1783080" y="2011680"/>
            <a:ext cx="9509760" cy="384048"/>
          </a:xfrm>
          <a:prstGeom prst="rect">
            <a:avLst/>
          </a:prstGeom>
          <a:noFill/>
        </p:spPr>
        <p:txBody>
          <a:bodyPr wrap="square" anchor="t"/>
          <a:lstStyle/>
          <a:p>
            <a:pPr algn="l">
              <a:spcBef>
                <a:spcPts val="0"/>
              </a:spcBef>
              <a:spcAft>
                <a:spcPts val="0"/>
              </a:spcAft>
            </a:pPr>
            <a:r>
              <a:rPr sz="2200" b="0" i="0">
                <a:solidFill>
                  <a:srgbClr val="1A1A1A"/>
                </a:solidFill>
                <a:latin typeface="Arial"/>
              </a:rPr>
              <a:t>What Dask is, and how a cluster is wired</a:t>
            </a:r>
          </a:p>
        </p:txBody>
      </p:sp>
      <p:sp>
        <p:nvSpPr>
          <p:cNvPr id="11" name="Rounded Rectangle 10">
            <a:extLst>
              <a:ext uri="{C183D7F6-B498-43B3-948B-1728B52AA6E4}">
                <adec:decorative xmlns:adec="http://schemas.microsoft.com/office/drawing/2017/decorative" val="1"/>
              </a:ext>
            </a:extLst>
          </p:cNvPr>
          <p:cNvSpPr/>
          <p:nvPr/>
        </p:nvSpPr>
        <p:spPr>
          <a:xfrm>
            <a:off x="502920" y="2615184"/>
            <a:ext cx="11155680" cy="658368"/>
          </a:xfrm>
          <a:prstGeom prst="roundRect">
            <a:avLst>
              <a:gd name="adj" fmla="val 10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761488"/>
            <a:ext cx="1005840" cy="384048"/>
          </a:xfrm>
          <a:prstGeom prst="rect">
            <a:avLst/>
          </a:prstGeom>
          <a:noFill/>
        </p:spPr>
        <p:txBody>
          <a:bodyPr wrap="square" anchor="t"/>
          <a:lstStyle/>
          <a:p>
            <a:pPr algn="l">
              <a:spcBef>
                <a:spcPts val="0"/>
              </a:spcBef>
              <a:spcAft>
                <a:spcPts val="0"/>
              </a:spcAft>
            </a:pPr>
            <a:r>
              <a:rPr sz="2200" b="1" i="0">
                <a:solidFill>
                  <a:srgbClr val="CFB87C"/>
                </a:solidFill>
                <a:latin typeface="Century Gothic"/>
              </a:rPr>
              <a:t>03</a:t>
            </a:r>
          </a:p>
        </p:txBody>
      </p:sp>
      <p:sp>
        <p:nvSpPr>
          <p:cNvPr id="13" name="TextBox 12"/>
          <p:cNvSpPr txBox="1"/>
          <p:nvPr/>
        </p:nvSpPr>
        <p:spPr>
          <a:xfrm>
            <a:off x="1783080" y="2761488"/>
            <a:ext cx="9509760" cy="384048"/>
          </a:xfrm>
          <a:prstGeom prst="rect">
            <a:avLst/>
          </a:prstGeom>
          <a:noFill/>
        </p:spPr>
        <p:txBody>
          <a:bodyPr wrap="square" anchor="t"/>
          <a:lstStyle/>
          <a:p>
            <a:pPr algn="l">
              <a:spcBef>
                <a:spcPts val="0"/>
              </a:spcBef>
              <a:spcAft>
                <a:spcPts val="0"/>
              </a:spcAft>
            </a:pPr>
            <a:r>
              <a:rPr sz="2200" b="0" i="0" dirty="0">
                <a:solidFill>
                  <a:srgbClr val="1A1A1A"/>
                </a:solidFill>
                <a:latin typeface="Arial"/>
              </a:rPr>
              <a:t>Launch a cluster from Open OnDemand Jupyter</a:t>
            </a:r>
            <a:r>
              <a:rPr lang="en-US" sz="2200" b="0" i="0" dirty="0">
                <a:solidFill>
                  <a:srgbClr val="1A1A1A"/>
                </a:solidFill>
                <a:latin typeface="Arial"/>
              </a:rPr>
              <a:t> Notebook</a:t>
            </a:r>
            <a:endParaRPr sz="2200" b="0" i="0" dirty="0">
              <a:solidFill>
                <a:srgbClr val="1A1A1A"/>
              </a:solidFill>
              <a:latin typeface="Arial"/>
            </a:endParaRPr>
          </a:p>
        </p:txBody>
      </p:sp>
      <p:sp>
        <p:nvSpPr>
          <p:cNvPr id="14" name="Rounded Rectangle 13">
            <a:extLst>
              <a:ext uri="{C183D7F6-B498-43B3-948B-1728B52AA6E4}">
                <adec:decorative xmlns:adec="http://schemas.microsoft.com/office/drawing/2017/decorative" val="1"/>
              </a:ext>
            </a:extLst>
          </p:cNvPr>
          <p:cNvSpPr/>
          <p:nvPr/>
        </p:nvSpPr>
        <p:spPr>
          <a:xfrm>
            <a:off x="502920" y="3364991"/>
            <a:ext cx="11155680" cy="658368"/>
          </a:xfrm>
          <a:prstGeom prst="roundRect">
            <a:avLst>
              <a:gd name="adj" fmla="val 10000"/>
            </a:avLst>
          </a:prstGeom>
          <a:solidFill>
            <a:srgbClr val="FFFFFF"/>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511296"/>
            <a:ext cx="1005840" cy="384048"/>
          </a:xfrm>
          <a:prstGeom prst="rect">
            <a:avLst/>
          </a:prstGeom>
          <a:noFill/>
        </p:spPr>
        <p:txBody>
          <a:bodyPr wrap="square" anchor="t"/>
          <a:lstStyle/>
          <a:p>
            <a:pPr algn="l">
              <a:spcBef>
                <a:spcPts val="0"/>
              </a:spcBef>
              <a:spcAft>
                <a:spcPts val="0"/>
              </a:spcAft>
            </a:pPr>
            <a:r>
              <a:rPr sz="2200" b="1" i="0">
                <a:solidFill>
                  <a:srgbClr val="CFB87C"/>
                </a:solidFill>
                <a:latin typeface="Century Gothic"/>
              </a:rPr>
              <a:t>04</a:t>
            </a:r>
          </a:p>
        </p:txBody>
      </p:sp>
      <p:sp>
        <p:nvSpPr>
          <p:cNvPr id="16" name="TextBox 15"/>
          <p:cNvSpPr txBox="1"/>
          <p:nvPr/>
        </p:nvSpPr>
        <p:spPr>
          <a:xfrm>
            <a:off x="1783080" y="3511296"/>
            <a:ext cx="9509760" cy="384048"/>
          </a:xfrm>
          <a:prstGeom prst="rect">
            <a:avLst/>
          </a:prstGeom>
          <a:noFill/>
        </p:spPr>
        <p:txBody>
          <a:bodyPr wrap="square" anchor="t"/>
          <a:lstStyle/>
          <a:p>
            <a:pPr algn="l">
              <a:spcBef>
                <a:spcPts val="0"/>
              </a:spcBef>
              <a:spcAft>
                <a:spcPts val="0"/>
              </a:spcAft>
            </a:pPr>
            <a:r>
              <a:rPr sz="2200" b="0" i="0" dirty="0" err="1">
                <a:solidFill>
                  <a:srgbClr val="1A1A1A"/>
                </a:solidFill>
                <a:latin typeface="Arial"/>
              </a:rPr>
              <a:t>Dask</a:t>
            </a:r>
            <a:r>
              <a:rPr sz="2200" b="0" i="0" dirty="0">
                <a:solidFill>
                  <a:srgbClr val="1A1A1A"/>
                </a:solidFill>
                <a:latin typeface="Arial"/>
              </a:rPr>
              <a:t> Dashboard</a:t>
            </a:r>
          </a:p>
        </p:txBody>
      </p:sp>
      <p:sp>
        <p:nvSpPr>
          <p:cNvPr id="17" name="Rounded Rectangle 16">
            <a:extLst>
              <a:ext uri="{C183D7F6-B498-43B3-948B-1728B52AA6E4}">
                <adec:decorative xmlns:adec="http://schemas.microsoft.com/office/drawing/2017/decorative" val="1"/>
              </a:ext>
            </a:extLst>
          </p:cNvPr>
          <p:cNvSpPr/>
          <p:nvPr/>
        </p:nvSpPr>
        <p:spPr>
          <a:xfrm>
            <a:off x="502920" y="4114800"/>
            <a:ext cx="11155680" cy="658368"/>
          </a:xfrm>
          <a:prstGeom prst="roundRect">
            <a:avLst>
              <a:gd name="adj" fmla="val 10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4261104"/>
            <a:ext cx="1005840" cy="384048"/>
          </a:xfrm>
          <a:prstGeom prst="rect">
            <a:avLst/>
          </a:prstGeom>
          <a:noFill/>
        </p:spPr>
        <p:txBody>
          <a:bodyPr wrap="square" anchor="t"/>
          <a:lstStyle/>
          <a:p>
            <a:pPr algn="l">
              <a:spcBef>
                <a:spcPts val="0"/>
              </a:spcBef>
              <a:spcAft>
                <a:spcPts val="0"/>
              </a:spcAft>
            </a:pPr>
            <a:r>
              <a:rPr sz="2200" b="1" i="0">
                <a:solidFill>
                  <a:srgbClr val="CFB87C"/>
                </a:solidFill>
                <a:latin typeface="Century Gothic"/>
              </a:rPr>
              <a:t>05</a:t>
            </a:r>
          </a:p>
        </p:txBody>
      </p:sp>
      <p:sp>
        <p:nvSpPr>
          <p:cNvPr id="19" name="TextBox 18"/>
          <p:cNvSpPr txBox="1"/>
          <p:nvPr/>
        </p:nvSpPr>
        <p:spPr>
          <a:xfrm>
            <a:off x="1783080" y="4261104"/>
            <a:ext cx="9509760" cy="384048"/>
          </a:xfrm>
          <a:prstGeom prst="rect">
            <a:avLst/>
          </a:prstGeom>
          <a:noFill/>
        </p:spPr>
        <p:txBody>
          <a:bodyPr wrap="square" anchor="t"/>
          <a:lstStyle/>
          <a:p>
            <a:pPr algn="l">
              <a:spcBef>
                <a:spcPts val="0"/>
              </a:spcBef>
              <a:spcAft>
                <a:spcPts val="0"/>
              </a:spcAft>
            </a:pPr>
            <a:r>
              <a:rPr sz="2200" b="0" i="0" dirty="0">
                <a:solidFill>
                  <a:srgbClr val="1A1A1A"/>
                </a:solidFill>
                <a:latin typeface="Arial"/>
              </a:rPr>
              <a:t>Scale NumPy and pandas: Arrays and </a:t>
            </a:r>
            <a:r>
              <a:rPr sz="2200" b="0" i="0" dirty="0" err="1">
                <a:solidFill>
                  <a:srgbClr val="1A1A1A"/>
                </a:solidFill>
                <a:latin typeface="Arial"/>
              </a:rPr>
              <a:t>DataFrames</a:t>
            </a:r>
            <a:endParaRPr sz="2200" b="0" i="0" dirty="0">
              <a:solidFill>
                <a:srgbClr val="1A1A1A"/>
              </a:solidFill>
              <a:latin typeface="Arial"/>
            </a:endParaRPr>
          </a:p>
        </p:txBody>
      </p:sp>
      <p:sp>
        <p:nvSpPr>
          <p:cNvPr id="20" name="Rounded Rectangle 19">
            <a:extLst>
              <a:ext uri="{C183D7F6-B498-43B3-948B-1728B52AA6E4}">
                <adec:decorative xmlns:adec="http://schemas.microsoft.com/office/drawing/2017/decorative" val="1"/>
              </a:ext>
            </a:extLst>
          </p:cNvPr>
          <p:cNvSpPr/>
          <p:nvPr/>
        </p:nvSpPr>
        <p:spPr>
          <a:xfrm>
            <a:off x="502920" y="4864607"/>
            <a:ext cx="11155680" cy="658368"/>
          </a:xfrm>
          <a:prstGeom prst="roundRect">
            <a:avLst>
              <a:gd name="adj" fmla="val 10000"/>
            </a:avLst>
          </a:prstGeom>
          <a:solidFill>
            <a:srgbClr val="FFFFFF"/>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5010912"/>
            <a:ext cx="1005840" cy="384048"/>
          </a:xfrm>
          <a:prstGeom prst="rect">
            <a:avLst/>
          </a:prstGeom>
          <a:noFill/>
        </p:spPr>
        <p:txBody>
          <a:bodyPr wrap="square" anchor="t"/>
          <a:lstStyle/>
          <a:p>
            <a:pPr algn="l">
              <a:spcBef>
                <a:spcPts val="0"/>
              </a:spcBef>
              <a:spcAft>
                <a:spcPts val="0"/>
              </a:spcAft>
            </a:pPr>
            <a:r>
              <a:rPr sz="2200" b="1" i="0">
                <a:solidFill>
                  <a:srgbClr val="CFB87C"/>
                </a:solidFill>
                <a:latin typeface="Century Gothic"/>
              </a:rPr>
              <a:t>06</a:t>
            </a:r>
          </a:p>
        </p:txBody>
      </p:sp>
      <p:sp>
        <p:nvSpPr>
          <p:cNvPr id="22" name="TextBox 21"/>
          <p:cNvSpPr txBox="1"/>
          <p:nvPr/>
        </p:nvSpPr>
        <p:spPr>
          <a:xfrm>
            <a:off x="1783080" y="5010912"/>
            <a:ext cx="9509760" cy="384048"/>
          </a:xfrm>
          <a:prstGeom prst="rect">
            <a:avLst/>
          </a:prstGeom>
          <a:noFill/>
        </p:spPr>
        <p:txBody>
          <a:bodyPr wrap="square" anchor="t"/>
          <a:lstStyle/>
          <a:p>
            <a:pPr algn="l">
              <a:spcBef>
                <a:spcPts val="0"/>
              </a:spcBef>
              <a:spcAft>
                <a:spcPts val="0"/>
              </a:spcAft>
            </a:pPr>
            <a:r>
              <a:rPr sz="2200" b="0" i="0">
                <a:solidFill>
                  <a:srgbClr val="1A1A1A"/>
                </a:solidFill>
                <a:latin typeface="Arial"/>
              </a:rPr>
              <a:t>Live demo on Alpine, plus when Dask is worth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sz="3000" b="1" i="0" dirty="0">
                <a:solidFill>
                  <a:srgbClr val="1A1A1A"/>
                </a:solidFill>
                <a:latin typeface="Century Gothic"/>
              </a:rPr>
              <a:t>Python is great… until it isn’t</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02920" y="1188720"/>
            <a:ext cx="3611880" cy="3438652"/>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C183D7F6-B498-43B3-948B-1728B52AA6E4}">
                <adec:decorative xmlns:adec="http://schemas.microsoft.com/office/drawing/2017/decorative" val="1"/>
              </a:ext>
            </a:extLst>
          </p:cNvPr>
          <p:cNvSpPr/>
          <p:nvPr/>
        </p:nvSpPr>
        <p:spPr>
          <a:xfrm>
            <a:off x="502920" y="1188720"/>
            <a:ext cx="100584" cy="3488944"/>
          </a:xfrm>
          <a:prstGeom prst="rect">
            <a:avLst/>
          </a:prstGeom>
          <a:solidFill>
            <a:srgbClr val="A3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1270000"/>
            <a:ext cx="3200400" cy="256032"/>
          </a:xfrm>
          <a:prstGeom prst="rect">
            <a:avLst/>
          </a:prstGeom>
          <a:noFill/>
        </p:spPr>
        <p:txBody>
          <a:bodyPr wrap="square" anchor="t"/>
          <a:lstStyle/>
          <a:p>
            <a:pPr algn="l">
              <a:spcBef>
                <a:spcPts val="0"/>
              </a:spcBef>
              <a:spcAft>
                <a:spcPts val="0"/>
              </a:spcAft>
            </a:pPr>
            <a:r>
              <a:rPr sz="1600" b="1" i="0" dirty="0">
                <a:solidFill>
                  <a:srgbClr val="A32D2D"/>
                </a:solidFill>
                <a:latin typeface="Arial"/>
              </a:rPr>
              <a:t>MEMORY</a:t>
            </a:r>
          </a:p>
        </p:txBody>
      </p:sp>
      <p:sp>
        <p:nvSpPr>
          <p:cNvPr id="8" name="TextBox 7"/>
          <p:cNvSpPr txBox="1"/>
          <p:nvPr/>
        </p:nvSpPr>
        <p:spPr>
          <a:xfrm>
            <a:off x="758952" y="1591056"/>
            <a:ext cx="3200400" cy="365760"/>
          </a:xfrm>
          <a:prstGeom prst="rect">
            <a:avLst/>
          </a:prstGeom>
          <a:noFill/>
        </p:spPr>
        <p:txBody>
          <a:bodyPr wrap="square" anchor="t"/>
          <a:lstStyle/>
          <a:p>
            <a:pPr algn="l">
              <a:spcBef>
                <a:spcPts val="0"/>
              </a:spcBef>
              <a:spcAft>
                <a:spcPts val="0"/>
              </a:spcAft>
            </a:pPr>
            <a:r>
              <a:rPr lang="en-US" sz="1800" b="1" i="0" dirty="0">
                <a:solidFill>
                  <a:srgbClr val="1A1A1A"/>
                </a:solidFill>
                <a:latin typeface="Century Gothic"/>
              </a:rPr>
              <a:t>Your data doesn’t fit</a:t>
            </a:r>
          </a:p>
          <a:p>
            <a:pPr algn="l">
              <a:spcBef>
                <a:spcPts val="0"/>
              </a:spcBef>
              <a:spcAft>
                <a:spcPts val="0"/>
              </a:spcAft>
            </a:pPr>
            <a:endParaRPr lang="en-US" sz="1800" b="1" i="0" dirty="0">
              <a:solidFill>
                <a:srgbClr val="1A1A1A"/>
              </a:solidFill>
              <a:latin typeface="Century Gothic"/>
            </a:endParaRPr>
          </a:p>
        </p:txBody>
      </p:sp>
      <p:sp>
        <p:nvSpPr>
          <p:cNvPr id="9" name="TextBox 8"/>
          <p:cNvSpPr txBox="1"/>
          <p:nvPr/>
        </p:nvSpPr>
        <p:spPr>
          <a:xfrm>
            <a:off x="758952" y="1993392"/>
            <a:ext cx="3200400" cy="2791968"/>
          </a:xfrm>
          <a:prstGeom prst="rect">
            <a:avLst/>
          </a:prstGeom>
          <a:noFill/>
        </p:spPr>
        <p:txBody>
          <a:bodyPr wrap="square" anchor="t"/>
          <a:lstStyle/>
          <a:p>
            <a:pPr marL="285750" indent="-285750" algn="l">
              <a:spcBef>
                <a:spcPts val="0"/>
              </a:spcBef>
              <a:spcAft>
                <a:spcPts val="0"/>
              </a:spcAft>
              <a:buFont typeface="Arial" panose="020B0604020202020204" pitchFamily="34" charset="0"/>
              <a:buChar char="•"/>
            </a:pPr>
            <a:r>
              <a:rPr lang="en-US" sz="1550" b="0" i="0" dirty="0">
                <a:solidFill>
                  <a:srgbClr val="2F2F2F"/>
                </a:solidFill>
                <a:latin typeface="Arial"/>
              </a:rPr>
              <a:t>Your dataset is larger than available RAM.</a:t>
            </a:r>
          </a:p>
          <a:p>
            <a:pPr marL="285750" indent="-285750" algn="l">
              <a:spcBef>
                <a:spcPts val="0"/>
              </a:spcBef>
              <a:spcAft>
                <a:spcPts val="0"/>
              </a:spcAft>
              <a:buFont typeface="Arial" panose="020B0604020202020204" pitchFamily="34" charset="0"/>
              <a:buChar char="•"/>
            </a:pPr>
            <a:r>
              <a:rPr lang="en-US" sz="1550" b="0" i="0" dirty="0">
                <a:solidFill>
                  <a:srgbClr val="2F2F2F"/>
                </a:solidFill>
                <a:latin typeface="Arial"/>
              </a:rPr>
              <a:t>Pandas and NumPy often load the data into memory at once.</a:t>
            </a:r>
          </a:p>
          <a:p>
            <a:pPr marL="285750" indent="-285750" algn="l">
              <a:spcBef>
                <a:spcPts val="0"/>
              </a:spcBef>
              <a:spcAft>
                <a:spcPts val="0"/>
              </a:spcAft>
              <a:buFont typeface="Arial" panose="020B0604020202020204" pitchFamily="34" charset="0"/>
              <a:buChar char="•"/>
            </a:pPr>
            <a:r>
              <a:rPr lang="en-US" sz="1550" b="0" i="0" dirty="0">
                <a:solidFill>
                  <a:srgbClr val="2F2F2F"/>
                </a:solidFill>
                <a:latin typeface="Arial"/>
              </a:rPr>
              <a:t>Large files can quickly lead to Memory Error.</a:t>
            </a:r>
          </a:p>
          <a:p>
            <a:pPr marL="285750" indent="-285750" algn="l">
              <a:spcBef>
                <a:spcPts val="0"/>
              </a:spcBef>
              <a:spcAft>
                <a:spcPts val="0"/>
              </a:spcAft>
              <a:buFont typeface="Arial" panose="020B0604020202020204" pitchFamily="34" charset="0"/>
              <a:buChar char="•"/>
            </a:pPr>
            <a:r>
              <a:rPr lang="en-US" sz="1550" b="0" i="0" dirty="0">
                <a:solidFill>
                  <a:srgbClr val="2F2F2F"/>
                </a:solidFill>
                <a:latin typeface="Arial"/>
              </a:rPr>
              <a:t>You need a way to process the data in smaller pieces.</a:t>
            </a:r>
            <a:endParaRPr sz="1550" b="0" i="0" dirty="0">
              <a:solidFill>
                <a:srgbClr val="2F2F2F"/>
              </a:solidFill>
              <a:latin typeface="Arial"/>
            </a:endParaRPr>
          </a:p>
        </p:txBody>
      </p:sp>
      <p:sp>
        <p:nvSpPr>
          <p:cNvPr id="10" name="Rounded Rectangle 9">
            <a:extLst>
              <a:ext uri="{C183D7F6-B498-43B3-948B-1728B52AA6E4}">
                <adec:decorative xmlns:adec="http://schemas.microsoft.com/office/drawing/2017/decorative" val="1"/>
              </a:ext>
            </a:extLst>
          </p:cNvPr>
          <p:cNvSpPr/>
          <p:nvPr/>
        </p:nvSpPr>
        <p:spPr>
          <a:xfrm>
            <a:off x="4343400" y="1188720"/>
            <a:ext cx="3611880" cy="3438652"/>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C183D7F6-B498-43B3-948B-1728B52AA6E4}">
                <adec:decorative xmlns:adec="http://schemas.microsoft.com/office/drawing/2017/decorative" val="1"/>
              </a:ext>
            </a:extLst>
          </p:cNvPr>
          <p:cNvSpPr/>
          <p:nvPr/>
        </p:nvSpPr>
        <p:spPr>
          <a:xfrm>
            <a:off x="4343400" y="1188720"/>
            <a:ext cx="100584" cy="3488944"/>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9432" y="1271238"/>
            <a:ext cx="3200400" cy="256032"/>
          </a:xfrm>
          <a:prstGeom prst="rect">
            <a:avLst/>
          </a:prstGeom>
          <a:noFill/>
        </p:spPr>
        <p:txBody>
          <a:bodyPr wrap="square" anchor="t"/>
          <a:lstStyle/>
          <a:p>
            <a:pPr algn="l">
              <a:spcBef>
                <a:spcPts val="0"/>
              </a:spcBef>
              <a:spcAft>
                <a:spcPts val="0"/>
              </a:spcAft>
            </a:pPr>
            <a:r>
              <a:rPr sz="1600" b="1" i="0" dirty="0">
                <a:solidFill>
                  <a:srgbClr val="007A87"/>
                </a:solidFill>
                <a:latin typeface="Arial"/>
              </a:rPr>
              <a:t>CPU</a:t>
            </a:r>
          </a:p>
        </p:txBody>
      </p:sp>
      <p:sp>
        <p:nvSpPr>
          <p:cNvPr id="13" name="TextBox 12"/>
          <p:cNvSpPr txBox="1"/>
          <p:nvPr/>
        </p:nvSpPr>
        <p:spPr>
          <a:xfrm>
            <a:off x="4599432" y="1591056"/>
            <a:ext cx="3200400" cy="532384"/>
          </a:xfrm>
          <a:prstGeom prst="rect">
            <a:avLst/>
          </a:prstGeom>
          <a:noFill/>
        </p:spPr>
        <p:txBody>
          <a:bodyPr wrap="square" anchor="t"/>
          <a:lstStyle/>
          <a:p>
            <a:pPr algn="l">
              <a:spcBef>
                <a:spcPts val="0"/>
              </a:spcBef>
              <a:spcAft>
                <a:spcPts val="0"/>
              </a:spcAft>
            </a:pPr>
            <a:r>
              <a:rPr lang="en-US" sz="1800" b="1" i="0" dirty="0">
                <a:solidFill>
                  <a:srgbClr val="1A1A1A"/>
                </a:solidFill>
                <a:latin typeface="Century Gothic"/>
              </a:rPr>
              <a:t>One core is doing all the work</a:t>
            </a:r>
          </a:p>
        </p:txBody>
      </p:sp>
      <p:sp>
        <p:nvSpPr>
          <p:cNvPr id="14" name="TextBox 13"/>
          <p:cNvSpPr txBox="1"/>
          <p:nvPr/>
        </p:nvSpPr>
        <p:spPr>
          <a:xfrm>
            <a:off x="4599432" y="2295144"/>
            <a:ext cx="3200400" cy="1982216"/>
          </a:xfrm>
          <a:prstGeom prst="rect">
            <a:avLst/>
          </a:prstGeom>
          <a:noFill/>
        </p:spPr>
        <p:txBody>
          <a:bodyPr wrap="square" anchor="t"/>
          <a:lstStyle/>
          <a:p>
            <a:pPr marL="285750" indent="-285750">
              <a:buFont typeface="Arial" panose="020B0604020202020204" pitchFamily="34" charset="0"/>
              <a:buChar char="•"/>
            </a:pPr>
            <a:r>
              <a:rPr lang="en-US" sz="1550" dirty="0">
                <a:solidFill>
                  <a:srgbClr val="2F2F2F"/>
                </a:solidFill>
                <a:latin typeface="Arial"/>
              </a:rPr>
              <a:t>Large computations can take hours even when other cores are idle.</a:t>
            </a:r>
          </a:p>
          <a:p>
            <a:pPr marL="285750" indent="-285750">
              <a:buFont typeface="Arial" panose="020B0604020202020204" pitchFamily="34" charset="0"/>
              <a:buChar char="•"/>
            </a:pPr>
            <a:r>
              <a:rPr lang="en-US" sz="1550" dirty="0">
                <a:solidFill>
                  <a:srgbClr val="2F2F2F"/>
                </a:solidFill>
                <a:latin typeface="Arial"/>
              </a:rPr>
              <a:t>Manually splitting and coordinating the work is difficult.</a:t>
            </a:r>
          </a:p>
        </p:txBody>
      </p:sp>
      <p:sp>
        <p:nvSpPr>
          <p:cNvPr id="15" name="Rounded Rectangle 14">
            <a:extLst>
              <a:ext uri="{C183D7F6-B498-43B3-948B-1728B52AA6E4}">
                <adec:decorative xmlns:adec="http://schemas.microsoft.com/office/drawing/2017/decorative" val="1"/>
              </a:ext>
            </a:extLst>
          </p:cNvPr>
          <p:cNvSpPr/>
          <p:nvPr/>
        </p:nvSpPr>
        <p:spPr>
          <a:xfrm>
            <a:off x="8183880" y="1188720"/>
            <a:ext cx="3611880" cy="3438652"/>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C183D7F6-B498-43B3-948B-1728B52AA6E4}">
                <adec:decorative xmlns:adec="http://schemas.microsoft.com/office/drawing/2017/decorative" val="1"/>
              </a:ext>
            </a:extLst>
          </p:cNvPr>
          <p:cNvSpPr/>
          <p:nvPr/>
        </p:nvSpPr>
        <p:spPr>
          <a:xfrm>
            <a:off x="8183880" y="1188720"/>
            <a:ext cx="100584" cy="3488944"/>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9912" y="1270000"/>
            <a:ext cx="3200400" cy="256032"/>
          </a:xfrm>
          <a:prstGeom prst="rect">
            <a:avLst/>
          </a:prstGeom>
          <a:noFill/>
        </p:spPr>
        <p:txBody>
          <a:bodyPr wrap="square" anchor="t"/>
          <a:lstStyle/>
          <a:p>
            <a:pPr algn="l">
              <a:spcBef>
                <a:spcPts val="0"/>
              </a:spcBef>
              <a:spcAft>
                <a:spcPts val="0"/>
              </a:spcAft>
            </a:pPr>
            <a:r>
              <a:rPr lang="en-US" sz="1600" b="1" i="0" dirty="0">
                <a:solidFill>
                  <a:srgbClr val="CFB87C"/>
                </a:solidFill>
                <a:latin typeface="Arial"/>
              </a:rPr>
              <a:t>SCALING</a:t>
            </a:r>
            <a:endParaRPr sz="1600" b="1" i="0" dirty="0">
              <a:solidFill>
                <a:srgbClr val="CFB87C"/>
              </a:solidFill>
              <a:latin typeface="Arial"/>
            </a:endParaRPr>
          </a:p>
        </p:txBody>
      </p:sp>
      <p:sp>
        <p:nvSpPr>
          <p:cNvPr id="18" name="TextBox 17"/>
          <p:cNvSpPr txBox="1"/>
          <p:nvPr/>
        </p:nvSpPr>
        <p:spPr>
          <a:xfrm>
            <a:off x="8439912" y="1591056"/>
            <a:ext cx="3200400" cy="365760"/>
          </a:xfrm>
          <a:prstGeom prst="rect">
            <a:avLst/>
          </a:prstGeom>
          <a:noFill/>
        </p:spPr>
        <p:txBody>
          <a:bodyPr wrap="square" anchor="t"/>
          <a:lstStyle/>
          <a:p>
            <a:pPr algn="l">
              <a:spcBef>
                <a:spcPts val="0"/>
              </a:spcBef>
              <a:spcAft>
                <a:spcPts val="0"/>
              </a:spcAft>
            </a:pPr>
            <a:r>
              <a:rPr lang="en-US" sz="1800" b="1" i="0" dirty="0">
                <a:solidFill>
                  <a:srgbClr val="1A1A1A"/>
                </a:solidFill>
                <a:latin typeface="Century Gothic"/>
              </a:rPr>
              <a:t>Your workflow outgrows one machine</a:t>
            </a:r>
          </a:p>
        </p:txBody>
      </p:sp>
      <p:sp>
        <p:nvSpPr>
          <p:cNvPr id="19" name="TextBox 18"/>
          <p:cNvSpPr txBox="1"/>
          <p:nvPr/>
        </p:nvSpPr>
        <p:spPr>
          <a:xfrm>
            <a:off x="8458200" y="2297176"/>
            <a:ext cx="3200400" cy="1888744"/>
          </a:xfrm>
          <a:prstGeom prst="rect">
            <a:avLst/>
          </a:prstGeom>
          <a:noFill/>
        </p:spPr>
        <p:txBody>
          <a:bodyPr wrap="square" anchor="t"/>
          <a:lstStyle/>
          <a:p>
            <a:pPr marL="285750" indent="-285750">
              <a:spcBef>
                <a:spcPts val="0"/>
              </a:spcBef>
              <a:spcAft>
                <a:spcPts val="0"/>
              </a:spcAft>
              <a:buFont typeface="Arial" panose="020B0604020202020204" pitchFamily="34" charset="0"/>
              <a:buChar char="•"/>
            </a:pPr>
            <a:r>
              <a:rPr lang="en-US" sz="1550" dirty="0">
                <a:solidFill>
                  <a:srgbClr val="2F2F2F"/>
                </a:solidFill>
                <a:latin typeface="Arial"/>
              </a:rPr>
              <a:t>Traditional approaches may require significant changes to your code.</a:t>
            </a:r>
          </a:p>
          <a:p>
            <a:pPr marL="285750" indent="-285750">
              <a:spcBef>
                <a:spcPts val="0"/>
              </a:spcBef>
              <a:spcAft>
                <a:spcPts val="0"/>
              </a:spcAft>
              <a:buFont typeface="Arial" panose="020B0604020202020204" pitchFamily="34" charset="0"/>
              <a:buChar char="•"/>
            </a:pPr>
            <a:r>
              <a:rPr lang="en-US" sz="1550" dirty="0">
                <a:solidFill>
                  <a:srgbClr val="2F2F2F"/>
                </a:solidFill>
                <a:latin typeface="Arial"/>
              </a:rPr>
              <a:t>Managing distributed work, dependencies, and results can become complicated.</a:t>
            </a:r>
          </a:p>
          <a:p>
            <a:pPr marL="285750" indent="-285750">
              <a:spcBef>
                <a:spcPts val="0"/>
              </a:spcBef>
              <a:spcAft>
                <a:spcPts val="0"/>
              </a:spcAft>
              <a:buFont typeface="Arial" panose="020B0604020202020204" pitchFamily="34" charset="0"/>
              <a:buChar char="•"/>
            </a:pPr>
            <a:r>
              <a:rPr lang="en-US" sz="1550" dirty="0">
                <a:solidFill>
                  <a:srgbClr val="2F2F2F"/>
                </a:solidFill>
                <a:latin typeface="Arial"/>
              </a:rPr>
              <a:t>You want to scale your existing Python workflow without starting over.</a:t>
            </a:r>
          </a:p>
          <a:p>
            <a:pPr algn="l">
              <a:spcBef>
                <a:spcPts val="0"/>
              </a:spcBef>
              <a:spcAft>
                <a:spcPts val="0"/>
              </a:spcAft>
            </a:pPr>
            <a:endParaRPr sz="1400" b="0" i="0" dirty="0">
              <a:solidFill>
                <a:srgbClr val="2F2F2F"/>
              </a:solidFill>
              <a:latin typeface="Arial"/>
            </a:endParaRPr>
          </a:p>
        </p:txBody>
      </p:sp>
      <p:sp>
        <p:nvSpPr>
          <p:cNvPr id="21" name="TextBox 20">
            <a:extLst>
              <a:ext uri="{FF2B5EF4-FFF2-40B4-BE49-F238E27FC236}">
                <a16:creationId xmlns:a16="http://schemas.microsoft.com/office/drawing/2014/main" id="{2DED5EA7-0253-BD9B-D3EB-831E8269DEA0}"/>
              </a:ext>
            </a:extLst>
          </p:cNvPr>
          <p:cNvSpPr txBox="1"/>
          <p:nvPr/>
        </p:nvSpPr>
        <p:spPr>
          <a:xfrm>
            <a:off x="640080" y="5063744"/>
            <a:ext cx="11155680" cy="640080"/>
          </a:xfrm>
          <a:prstGeom prst="rect">
            <a:avLst/>
          </a:prstGeom>
          <a:noFill/>
        </p:spPr>
        <p:txBody>
          <a:bodyPr wrap="square" anchor="t"/>
          <a:lstStyle/>
          <a:p>
            <a:pPr algn="l">
              <a:spcBef>
                <a:spcPts val="0"/>
              </a:spcBef>
              <a:spcAft>
                <a:spcPts val="0"/>
              </a:spcAft>
            </a:pPr>
            <a:r>
              <a:rPr lang="en-US" sz="2000" b="0" i="1" dirty="0" err="1">
                <a:solidFill>
                  <a:srgbClr val="007A87"/>
                </a:solidFill>
                <a:latin typeface="Century Gothic"/>
              </a:rPr>
              <a:t>Dask</a:t>
            </a:r>
            <a:r>
              <a:rPr lang="en-US" sz="2000" b="0" i="1" dirty="0">
                <a:solidFill>
                  <a:srgbClr val="007A87"/>
                </a:solidFill>
                <a:latin typeface="Century Gothic"/>
              </a:rPr>
              <a:t> helps you cross these boundaries.</a:t>
            </a:r>
          </a:p>
          <a:p>
            <a:pPr algn="l">
              <a:spcBef>
                <a:spcPts val="0"/>
              </a:spcBef>
              <a:spcAft>
                <a:spcPts val="0"/>
              </a:spcAft>
            </a:pPr>
            <a:r>
              <a:rPr lang="en-US" sz="2000" b="0" i="1" dirty="0">
                <a:solidFill>
                  <a:srgbClr val="007A87"/>
                </a:solidFill>
                <a:latin typeface="Century Gothic"/>
              </a:rPr>
              <a:t>Same Python ecosystem. Larger data. More cores. Multiple machines.</a:t>
            </a:r>
            <a:endParaRPr sz="2000" b="0" i="1" dirty="0">
              <a:solidFill>
                <a:srgbClr val="007A87"/>
              </a:solidFill>
              <a:latin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sz="3000" b="1" i="0">
                <a:solidFill>
                  <a:srgbClr val="1A1A1A"/>
                </a:solidFill>
                <a:latin typeface="Century Gothic"/>
              </a:rPr>
              <a:t>What is Dask?</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97280"/>
            <a:ext cx="11155680" cy="640080"/>
          </a:xfrm>
          <a:prstGeom prst="rect">
            <a:avLst/>
          </a:prstGeom>
          <a:noFill/>
        </p:spPr>
        <p:txBody>
          <a:bodyPr wrap="square" anchor="t"/>
          <a:lstStyle/>
          <a:p>
            <a:pPr algn="l">
              <a:spcBef>
                <a:spcPts val="0"/>
              </a:spcBef>
              <a:spcAft>
                <a:spcPts val="0"/>
              </a:spcAft>
            </a:pPr>
            <a:r>
              <a:rPr sz="2000" b="0" i="1" dirty="0">
                <a:solidFill>
                  <a:srgbClr val="007A87"/>
                </a:solidFill>
                <a:latin typeface="Century Gothic"/>
              </a:rPr>
              <a:t>A parallel computing</a:t>
            </a:r>
            <a:r>
              <a:rPr lang="en-US" sz="2000" b="0" i="1" dirty="0">
                <a:solidFill>
                  <a:srgbClr val="007A87"/>
                </a:solidFill>
                <a:latin typeface="Century Gothic"/>
              </a:rPr>
              <a:t> library in Python that allows you to scale computations from a single machine to a distributed cluster</a:t>
            </a:r>
            <a:r>
              <a:rPr sz="2000" b="0" i="1" dirty="0">
                <a:solidFill>
                  <a:srgbClr val="007A87"/>
                </a:solidFill>
                <a:latin typeface="Century Gothic"/>
              </a:rPr>
              <a:t>.</a:t>
            </a:r>
            <a:r>
              <a:rPr lang="en-US" sz="2000" b="0" i="1" dirty="0">
                <a:solidFill>
                  <a:srgbClr val="007A87"/>
                </a:solidFill>
                <a:latin typeface="Century Gothic"/>
              </a:rPr>
              <a:t> It is particularly useful when:</a:t>
            </a:r>
            <a:endParaRPr sz="2000" b="0" i="1" dirty="0">
              <a:solidFill>
                <a:srgbClr val="007A87"/>
              </a:solidFill>
              <a:latin typeface="Century Gothic"/>
            </a:endParaRPr>
          </a:p>
        </p:txBody>
      </p:sp>
      <p:sp>
        <p:nvSpPr>
          <p:cNvPr id="6" name="Rounded Rectangle 5">
            <a:extLst>
              <a:ext uri="{C183D7F6-B498-43B3-948B-1728B52AA6E4}">
                <adec:decorative xmlns:adec="http://schemas.microsoft.com/office/drawing/2017/decorative" val="1"/>
              </a:ext>
            </a:extLst>
          </p:cNvPr>
          <p:cNvSpPr/>
          <p:nvPr/>
        </p:nvSpPr>
        <p:spPr>
          <a:xfrm>
            <a:off x="502920" y="1920240"/>
            <a:ext cx="11155680" cy="822960"/>
          </a:xfrm>
          <a:prstGeom prst="roundRect">
            <a:avLst>
              <a:gd name="adj" fmla="val 10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a:extLst>
              <a:ext uri="{C183D7F6-B498-43B3-948B-1728B52AA6E4}">
                <adec:decorative xmlns:adec="http://schemas.microsoft.com/office/drawing/2017/decorative" val="1"/>
              </a:ext>
            </a:extLst>
          </p:cNvPr>
          <p:cNvSpPr/>
          <p:nvPr/>
        </p:nvSpPr>
        <p:spPr>
          <a:xfrm>
            <a:off x="731520" y="2121408"/>
            <a:ext cx="420624" cy="420624"/>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76272"/>
            <a:ext cx="420624" cy="329184"/>
          </a:xfrm>
          <a:prstGeom prst="rect">
            <a:avLst/>
          </a:prstGeom>
          <a:noFill/>
        </p:spPr>
        <p:txBody>
          <a:bodyPr wrap="square" anchor="t"/>
          <a:lstStyle/>
          <a:p>
            <a:pPr algn="ctr">
              <a:spcBef>
                <a:spcPts val="0"/>
              </a:spcBef>
              <a:spcAft>
                <a:spcPts val="0"/>
              </a:spcAft>
            </a:pPr>
            <a:r>
              <a:rPr sz="1400" b="1" i="0">
                <a:solidFill>
                  <a:srgbClr val="1A1A1A"/>
                </a:solidFill>
                <a:latin typeface="Arial"/>
              </a:rPr>
              <a:t>1</a:t>
            </a:r>
          </a:p>
        </p:txBody>
      </p:sp>
      <p:sp>
        <p:nvSpPr>
          <p:cNvPr id="9" name="TextBox 8"/>
          <p:cNvSpPr txBox="1"/>
          <p:nvPr/>
        </p:nvSpPr>
        <p:spPr>
          <a:xfrm>
            <a:off x="1371600" y="2139696"/>
            <a:ext cx="9875520" cy="411480"/>
          </a:xfrm>
          <a:prstGeom prst="rect">
            <a:avLst/>
          </a:prstGeom>
          <a:noFill/>
        </p:spPr>
        <p:txBody>
          <a:bodyPr wrap="square" anchor="t"/>
          <a:lstStyle/>
          <a:p>
            <a:pPr algn="l">
              <a:spcBef>
                <a:spcPts val="0"/>
              </a:spcBef>
              <a:spcAft>
                <a:spcPts val="0"/>
              </a:spcAft>
            </a:pPr>
            <a:r>
              <a:rPr sz="2200" b="0" i="0">
                <a:solidFill>
                  <a:srgbClr val="1A1A1A"/>
                </a:solidFill>
                <a:latin typeface="Arial"/>
              </a:rPr>
              <a:t>Your data does not fit in memory</a:t>
            </a:r>
          </a:p>
        </p:txBody>
      </p:sp>
      <p:sp>
        <p:nvSpPr>
          <p:cNvPr id="10" name="Rounded Rectangle 9">
            <a:extLst>
              <a:ext uri="{C183D7F6-B498-43B3-948B-1728B52AA6E4}">
                <adec:decorative xmlns:adec="http://schemas.microsoft.com/office/drawing/2017/decorative" val="1"/>
              </a:ext>
            </a:extLst>
          </p:cNvPr>
          <p:cNvSpPr/>
          <p:nvPr/>
        </p:nvSpPr>
        <p:spPr>
          <a:xfrm>
            <a:off x="502920" y="2880360"/>
            <a:ext cx="11155680" cy="822960"/>
          </a:xfrm>
          <a:prstGeom prst="roundRect">
            <a:avLst>
              <a:gd name="adj" fmla="val 10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C183D7F6-B498-43B3-948B-1728B52AA6E4}">
                <adec:decorative xmlns:adec="http://schemas.microsoft.com/office/drawing/2017/decorative" val="1"/>
              </a:ext>
            </a:extLst>
          </p:cNvPr>
          <p:cNvSpPr/>
          <p:nvPr/>
        </p:nvSpPr>
        <p:spPr>
          <a:xfrm>
            <a:off x="731520" y="3081528"/>
            <a:ext cx="420624" cy="420624"/>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136392"/>
            <a:ext cx="420624" cy="329184"/>
          </a:xfrm>
          <a:prstGeom prst="rect">
            <a:avLst/>
          </a:prstGeom>
          <a:noFill/>
        </p:spPr>
        <p:txBody>
          <a:bodyPr wrap="square" anchor="t"/>
          <a:lstStyle/>
          <a:p>
            <a:pPr algn="ctr">
              <a:spcBef>
                <a:spcPts val="0"/>
              </a:spcBef>
              <a:spcAft>
                <a:spcPts val="0"/>
              </a:spcAft>
            </a:pPr>
            <a:r>
              <a:rPr sz="1400" b="1" i="0">
                <a:solidFill>
                  <a:srgbClr val="1A1A1A"/>
                </a:solidFill>
                <a:latin typeface="Arial"/>
              </a:rPr>
              <a:t>2</a:t>
            </a:r>
          </a:p>
        </p:txBody>
      </p:sp>
      <p:sp>
        <p:nvSpPr>
          <p:cNvPr id="13" name="TextBox 12"/>
          <p:cNvSpPr txBox="1"/>
          <p:nvPr/>
        </p:nvSpPr>
        <p:spPr>
          <a:xfrm>
            <a:off x="1371600" y="3099816"/>
            <a:ext cx="9875520" cy="411480"/>
          </a:xfrm>
          <a:prstGeom prst="rect">
            <a:avLst/>
          </a:prstGeom>
          <a:noFill/>
        </p:spPr>
        <p:txBody>
          <a:bodyPr wrap="square" anchor="t"/>
          <a:lstStyle/>
          <a:p>
            <a:pPr algn="l">
              <a:spcBef>
                <a:spcPts val="0"/>
              </a:spcBef>
              <a:spcAft>
                <a:spcPts val="0"/>
              </a:spcAft>
            </a:pPr>
            <a:r>
              <a:rPr sz="2200" b="0" i="0">
                <a:solidFill>
                  <a:srgbClr val="1A1A1A"/>
                </a:solidFill>
                <a:latin typeface="Arial"/>
              </a:rPr>
              <a:t>Your code is CPU-bound and slow</a:t>
            </a:r>
          </a:p>
        </p:txBody>
      </p:sp>
      <p:sp>
        <p:nvSpPr>
          <p:cNvPr id="14" name="Rounded Rectangle 13">
            <a:extLst>
              <a:ext uri="{C183D7F6-B498-43B3-948B-1728B52AA6E4}">
                <adec:decorative xmlns:adec="http://schemas.microsoft.com/office/drawing/2017/decorative" val="1"/>
              </a:ext>
            </a:extLst>
          </p:cNvPr>
          <p:cNvSpPr/>
          <p:nvPr/>
        </p:nvSpPr>
        <p:spPr>
          <a:xfrm>
            <a:off x="502920" y="3840480"/>
            <a:ext cx="11155680" cy="822960"/>
          </a:xfrm>
          <a:prstGeom prst="roundRect">
            <a:avLst>
              <a:gd name="adj" fmla="val 10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C183D7F6-B498-43B3-948B-1728B52AA6E4}">
                <adec:decorative xmlns:adec="http://schemas.microsoft.com/office/drawing/2017/decorative" val="1"/>
              </a:ext>
            </a:extLst>
          </p:cNvPr>
          <p:cNvSpPr/>
          <p:nvPr/>
        </p:nvSpPr>
        <p:spPr>
          <a:xfrm>
            <a:off x="731520" y="4041648"/>
            <a:ext cx="420624" cy="420624"/>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096512"/>
            <a:ext cx="420624" cy="329184"/>
          </a:xfrm>
          <a:prstGeom prst="rect">
            <a:avLst/>
          </a:prstGeom>
          <a:noFill/>
        </p:spPr>
        <p:txBody>
          <a:bodyPr wrap="square" anchor="t"/>
          <a:lstStyle/>
          <a:p>
            <a:pPr algn="ctr">
              <a:spcBef>
                <a:spcPts val="0"/>
              </a:spcBef>
              <a:spcAft>
                <a:spcPts val="0"/>
              </a:spcAft>
            </a:pPr>
            <a:r>
              <a:rPr sz="1400" b="1" i="0">
                <a:solidFill>
                  <a:srgbClr val="1A1A1A"/>
                </a:solidFill>
                <a:latin typeface="Arial"/>
              </a:rPr>
              <a:t>3</a:t>
            </a:r>
          </a:p>
        </p:txBody>
      </p:sp>
      <p:sp>
        <p:nvSpPr>
          <p:cNvPr id="17" name="TextBox 16"/>
          <p:cNvSpPr txBox="1"/>
          <p:nvPr/>
        </p:nvSpPr>
        <p:spPr>
          <a:xfrm>
            <a:off x="1371600" y="4059936"/>
            <a:ext cx="9875520" cy="411480"/>
          </a:xfrm>
          <a:prstGeom prst="rect">
            <a:avLst/>
          </a:prstGeom>
          <a:noFill/>
        </p:spPr>
        <p:txBody>
          <a:bodyPr wrap="square" anchor="t"/>
          <a:lstStyle/>
          <a:p>
            <a:pPr algn="l">
              <a:spcBef>
                <a:spcPts val="0"/>
              </a:spcBef>
              <a:spcAft>
                <a:spcPts val="0"/>
              </a:spcAft>
            </a:pPr>
            <a:r>
              <a:rPr lang="en-US" sz="2200" b="0" i="0" dirty="0">
                <a:solidFill>
                  <a:srgbClr val="1A1A1A"/>
                </a:solidFill>
                <a:latin typeface="Arial"/>
              </a:rPr>
              <a:t>You want to parallelize Python workflows without rewriting everything</a:t>
            </a:r>
            <a:endParaRPr sz="2200" b="0" i="0" dirty="0">
              <a:solidFill>
                <a:srgbClr val="1A1A1A"/>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lang="en-US" sz="3000" b="1" i="0" dirty="0" err="1">
                <a:solidFill>
                  <a:srgbClr val="1A1A1A"/>
                </a:solidFill>
                <a:latin typeface="Century Gothic"/>
              </a:rPr>
              <a:t>Dask</a:t>
            </a:r>
            <a:r>
              <a:rPr lang="en-US" sz="3000" b="1" i="0" dirty="0">
                <a:solidFill>
                  <a:srgbClr val="1A1A1A"/>
                </a:solidFill>
                <a:latin typeface="Century Gothic"/>
              </a:rPr>
              <a:t> Distributed Cluster</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02920" y="2873248"/>
            <a:ext cx="3552951" cy="2313432"/>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C183D7F6-B498-43B3-948B-1728B52AA6E4}">
                <adec:decorative xmlns:adec="http://schemas.microsoft.com/office/drawing/2017/decorative" val="1"/>
              </a:ext>
            </a:extLst>
          </p:cNvPr>
          <p:cNvSpPr/>
          <p:nvPr/>
        </p:nvSpPr>
        <p:spPr>
          <a:xfrm>
            <a:off x="502919" y="2863088"/>
            <a:ext cx="100583" cy="2399792"/>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938838"/>
            <a:ext cx="3154679" cy="256032"/>
          </a:xfrm>
          <a:prstGeom prst="rect">
            <a:avLst/>
          </a:prstGeom>
          <a:noFill/>
        </p:spPr>
        <p:txBody>
          <a:bodyPr wrap="square" anchor="t"/>
          <a:lstStyle/>
          <a:p>
            <a:pPr algn="r">
              <a:spcBef>
                <a:spcPts val="0"/>
              </a:spcBef>
              <a:spcAft>
                <a:spcPts val="0"/>
              </a:spcAft>
            </a:pPr>
            <a:r>
              <a:rPr b="1" i="0" dirty="0">
                <a:solidFill>
                  <a:srgbClr val="007A87"/>
                </a:solidFill>
                <a:latin typeface="Arial"/>
              </a:rPr>
              <a:t>YOU</a:t>
            </a:r>
          </a:p>
        </p:txBody>
      </p:sp>
      <p:sp>
        <p:nvSpPr>
          <p:cNvPr id="8" name="TextBox 7"/>
          <p:cNvSpPr txBox="1"/>
          <p:nvPr/>
        </p:nvSpPr>
        <p:spPr>
          <a:xfrm>
            <a:off x="758952" y="3260459"/>
            <a:ext cx="3154679" cy="365760"/>
          </a:xfrm>
          <a:prstGeom prst="rect">
            <a:avLst/>
          </a:prstGeom>
          <a:noFill/>
        </p:spPr>
        <p:txBody>
          <a:bodyPr wrap="square" anchor="t"/>
          <a:lstStyle/>
          <a:p>
            <a:pPr algn="l">
              <a:spcBef>
                <a:spcPts val="0"/>
              </a:spcBef>
              <a:spcAft>
                <a:spcPts val="0"/>
              </a:spcAft>
            </a:pPr>
            <a:r>
              <a:rPr sz="1800" b="1" i="0" dirty="0">
                <a:solidFill>
                  <a:srgbClr val="1A1A1A"/>
                </a:solidFill>
                <a:latin typeface="Century Gothic"/>
              </a:rPr>
              <a:t>Client</a:t>
            </a:r>
          </a:p>
        </p:txBody>
      </p:sp>
      <p:sp>
        <p:nvSpPr>
          <p:cNvPr id="9" name="TextBox 8" descr="The client is responsible for submitting tasks to be executed to the scheduler. It also enables you to monitor job progress and access the dashboard.&#10;"/>
          <p:cNvSpPr txBox="1"/>
          <p:nvPr/>
        </p:nvSpPr>
        <p:spPr>
          <a:xfrm>
            <a:off x="758952" y="3667760"/>
            <a:ext cx="3154679" cy="996696"/>
          </a:xfrm>
          <a:prstGeom prst="rect">
            <a:avLst/>
          </a:prstGeom>
          <a:noFill/>
        </p:spPr>
        <p:txBody>
          <a:bodyPr wrap="square" anchor="t"/>
          <a:lstStyle/>
          <a:p>
            <a:pPr algn="l">
              <a:spcBef>
                <a:spcPts val="0"/>
              </a:spcBef>
              <a:spcAft>
                <a:spcPts val="0"/>
              </a:spcAft>
            </a:pPr>
            <a:r>
              <a:rPr lang="en-US" sz="1400" b="0" i="0" dirty="0">
                <a:solidFill>
                  <a:srgbClr val="2F2F2F"/>
                </a:solidFill>
                <a:latin typeface="Arial"/>
              </a:rPr>
              <a:t>The client is responsible for submitting tasks to be executed to the scheduler. It also enables you to monitor job progress and access the dashboard.</a:t>
            </a:r>
          </a:p>
        </p:txBody>
      </p:sp>
      <p:sp>
        <p:nvSpPr>
          <p:cNvPr id="10" name="Rounded Rectangle 9">
            <a:extLst>
              <a:ext uri="{C183D7F6-B498-43B3-948B-1728B52AA6E4}">
                <adec:decorative xmlns:adec="http://schemas.microsoft.com/office/drawing/2017/decorative" val="1"/>
              </a:ext>
            </a:extLst>
          </p:cNvPr>
          <p:cNvSpPr/>
          <p:nvPr/>
        </p:nvSpPr>
        <p:spPr>
          <a:xfrm>
            <a:off x="4297680" y="2863088"/>
            <a:ext cx="3652520" cy="2313432"/>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C183D7F6-B498-43B3-948B-1728B52AA6E4}">
                <adec:decorative xmlns:adec="http://schemas.microsoft.com/office/drawing/2017/decorative" val="1"/>
              </a:ext>
            </a:extLst>
          </p:cNvPr>
          <p:cNvSpPr/>
          <p:nvPr/>
        </p:nvSpPr>
        <p:spPr>
          <a:xfrm>
            <a:off x="4297679" y="2842768"/>
            <a:ext cx="100584" cy="23997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53712" y="2936240"/>
            <a:ext cx="3154679" cy="256032"/>
          </a:xfrm>
          <a:prstGeom prst="rect">
            <a:avLst/>
          </a:prstGeom>
          <a:noFill/>
        </p:spPr>
        <p:txBody>
          <a:bodyPr wrap="square" anchor="t"/>
          <a:lstStyle/>
          <a:p>
            <a:pPr algn="r">
              <a:spcBef>
                <a:spcPts val="0"/>
              </a:spcBef>
              <a:spcAft>
                <a:spcPts val="0"/>
              </a:spcAft>
            </a:pPr>
            <a:r>
              <a:rPr b="1" i="0" dirty="0">
                <a:solidFill>
                  <a:srgbClr val="CFB87C"/>
                </a:solidFill>
                <a:latin typeface="Arial"/>
              </a:rPr>
              <a:t>CONDUCTOR</a:t>
            </a:r>
            <a:endParaRPr sz="1600" b="1" i="0" dirty="0">
              <a:solidFill>
                <a:srgbClr val="CFB87C"/>
              </a:solidFill>
              <a:latin typeface="Arial"/>
            </a:endParaRPr>
          </a:p>
        </p:txBody>
      </p:sp>
      <p:sp>
        <p:nvSpPr>
          <p:cNvPr id="13" name="TextBox 12"/>
          <p:cNvSpPr txBox="1"/>
          <p:nvPr/>
        </p:nvSpPr>
        <p:spPr>
          <a:xfrm>
            <a:off x="4553712" y="3265424"/>
            <a:ext cx="3154679" cy="365760"/>
          </a:xfrm>
          <a:prstGeom prst="rect">
            <a:avLst/>
          </a:prstGeom>
          <a:noFill/>
        </p:spPr>
        <p:txBody>
          <a:bodyPr wrap="square" anchor="t"/>
          <a:lstStyle/>
          <a:p>
            <a:pPr algn="l">
              <a:spcBef>
                <a:spcPts val="0"/>
              </a:spcBef>
              <a:spcAft>
                <a:spcPts val="0"/>
              </a:spcAft>
            </a:pPr>
            <a:r>
              <a:rPr sz="1800" b="1" i="0" dirty="0">
                <a:solidFill>
                  <a:srgbClr val="1A1A1A"/>
                </a:solidFill>
                <a:latin typeface="Century Gothic"/>
              </a:rPr>
              <a:t>Scheduler</a:t>
            </a:r>
          </a:p>
        </p:txBody>
      </p:sp>
      <p:sp>
        <p:nvSpPr>
          <p:cNvPr id="14" name="TextBox 13" descr="Decides how work is split across workers and coordinates the parallelized workload.&#10;"/>
          <p:cNvSpPr txBox="1"/>
          <p:nvPr/>
        </p:nvSpPr>
        <p:spPr>
          <a:xfrm>
            <a:off x="4553712" y="3667760"/>
            <a:ext cx="3154679" cy="1097280"/>
          </a:xfrm>
          <a:prstGeom prst="rect">
            <a:avLst/>
          </a:prstGeom>
          <a:noFill/>
        </p:spPr>
        <p:txBody>
          <a:bodyPr wrap="square" anchor="t"/>
          <a:lstStyle/>
          <a:p>
            <a:pPr algn="l">
              <a:spcBef>
                <a:spcPts val="0"/>
              </a:spcBef>
              <a:spcAft>
                <a:spcPts val="0"/>
              </a:spcAft>
            </a:pPr>
            <a:r>
              <a:rPr sz="1400" b="0" i="0" dirty="0">
                <a:solidFill>
                  <a:srgbClr val="2F2F2F"/>
                </a:solidFill>
                <a:latin typeface="Arial"/>
              </a:rPr>
              <a:t>Decides how work is split across workers and coordinates the parallel</a:t>
            </a:r>
            <a:r>
              <a:rPr lang="en-US" sz="1400" b="0" i="0" dirty="0">
                <a:solidFill>
                  <a:srgbClr val="2F2F2F"/>
                </a:solidFill>
                <a:latin typeface="Arial"/>
              </a:rPr>
              <a:t>ized</a:t>
            </a:r>
            <a:r>
              <a:rPr sz="1400" b="0" i="0" dirty="0">
                <a:solidFill>
                  <a:srgbClr val="2F2F2F"/>
                </a:solidFill>
                <a:latin typeface="Arial"/>
              </a:rPr>
              <a:t> workload.</a:t>
            </a:r>
          </a:p>
        </p:txBody>
      </p:sp>
      <p:sp>
        <p:nvSpPr>
          <p:cNvPr id="15" name="Rounded Rectangle 14">
            <a:extLst>
              <a:ext uri="{C183D7F6-B498-43B3-948B-1728B52AA6E4}">
                <adec:decorative xmlns:adec="http://schemas.microsoft.com/office/drawing/2017/decorative" val="1"/>
              </a:ext>
            </a:extLst>
          </p:cNvPr>
          <p:cNvSpPr/>
          <p:nvPr/>
        </p:nvSpPr>
        <p:spPr>
          <a:xfrm>
            <a:off x="8348470" y="2863088"/>
            <a:ext cx="3310129" cy="2313432"/>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C183D7F6-B498-43B3-948B-1728B52AA6E4}">
                <adec:decorative xmlns:adec="http://schemas.microsoft.com/office/drawing/2017/decorative" val="1"/>
              </a:ext>
            </a:extLst>
          </p:cNvPr>
          <p:cNvSpPr/>
          <p:nvPr/>
        </p:nvSpPr>
        <p:spPr>
          <a:xfrm>
            <a:off x="8270240" y="2863088"/>
            <a:ext cx="78228" cy="2313432"/>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48468" y="2936240"/>
            <a:ext cx="3154679" cy="256032"/>
          </a:xfrm>
          <a:prstGeom prst="rect">
            <a:avLst/>
          </a:prstGeom>
          <a:noFill/>
        </p:spPr>
        <p:txBody>
          <a:bodyPr wrap="square" anchor="t"/>
          <a:lstStyle/>
          <a:p>
            <a:pPr algn="r">
              <a:spcBef>
                <a:spcPts val="0"/>
              </a:spcBef>
              <a:spcAft>
                <a:spcPts val="0"/>
              </a:spcAft>
            </a:pPr>
            <a:r>
              <a:rPr b="1" i="0" dirty="0">
                <a:solidFill>
                  <a:srgbClr val="2E6B4F"/>
                </a:solidFill>
                <a:latin typeface="Arial"/>
              </a:rPr>
              <a:t>THE ORCHESTRA</a:t>
            </a:r>
          </a:p>
        </p:txBody>
      </p:sp>
      <p:sp>
        <p:nvSpPr>
          <p:cNvPr id="18" name="TextBox 17"/>
          <p:cNvSpPr txBox="1"/>
          <p:nvPr/>
        </p:nvSpPr>
        <p:spPr>
          <a:xfrm>
            <a:off x="8399271" y="3265424"/>
            <a:ext cx="3154679" cy="365760"/>
          </a:xfrm>
          <a:prstGeom prst="rect">
            <a:avLst/>
          </a:prstGeom>
          <a:noFill/>
        </p:spPr>
        <p:txBody>
          <a:bodyPr wrap="square" anchor="t"/>
          <a:lstStyle/>
          <a:p>
            <a:pPr algn="l">
              <a:spcBef>
                <a:spcPts val="0"/>
              </a:spcBef>
              <a:spcAft>
                <a:spcPts val="0"/>
              </a:spcAft>
            </a:pPr>
            <a:r>
              <a:rPr sz="1800" b="1" i="0" dirty="0">
                <a:solidFill>
                  <a:srgbClr val="1A1A1A"/>
                </a:solidFill>
                <a:latin typeface="Century Gothic"/>
              </a:rPr>
              <a:t>Workers</a:t>
            </a:r>
          </a:p>
        </p:txBody>
      </p:sp>
      <p:sp>
        <p:nvSpPr>
          <p:cNvPr id="19" name="TextBox 18" descr="The workers compute tasks and store and return computations results. Workers can be threads, processes, or separate machines in a cluster.&#10;&#10;"/>
          <p:cNvSpPr txBox="1"/>
          <p:nvPr/>
        </p:nvSpPr>
        <p:spPr>
          <a:xfrm>
            <a:off x="8422640" y="3647440"/>
            <a:ext cx="3154679" cy="1249680"/>
          </a:xfrm>
          <a:prstGeom prst="rect">
            <a:avLst/>
          </a:prstGeom>
          <a:noFill/>
        </p:spPr>
        <p:txBody>
          <a:bodyPr wrap="square" anchor="t"/>
          <a:lstStyle/>
          <a:p>
            <a:pPr algn="l">
              <a:spcBef>
                <a:spcPts val="0"/>
              </a:spcBef>
              <a:spcAft>
                <a:spcPts val="0"/>
              </a:spcAft>
            </a:pPr>
            <a:r>
              <a:rPr lang="en-US" sz="1400" b="0" i="0" dirty="0">
                <a:solidFill>
                  <a:srgbClr val="2F2F2F"/>
                </a:solidFill>
                <a:latin typeface="Arial"/>
              </a:rPr>
              <a:t>The workers compute tasks and store and return computations results. Workers can be threads, processes, or separate machines in a cluster.</a:t>
            </a:r>
          </a:p>
          <a:p>
            <a:pPr algn="l">
              <a:spcBef>
                <a:spcPts val="0"/>
              </a:spcBef>
              <a:spcAft>
                <a:spcPts val="0"/>
              </a:spcAft>
            </a:pPr>
            <a:endParaRPr lang="en-US" sz="1400" b="0" i="0" dirty="0">
              <a:solidFill>
                <a:srgbClr val="2F2F2F"/>
              </a:solidFill>
              <a:latin typeface="Arial"/>
            </a:endParaRPr>
          </a:p>
        </p:txBody>
      </p:sp>
      <p:sp>
        <p:nvSpPr>
          <p:cNvPr id="22" name="TextBox 21">
            <a:extLst>
              <a:ext uri="{FF2B5EF4-FFF2-40B4-BE49-F238E27FC236}">
                <a16:creationId xmlns:a16="http://schemas.microsoft.com/office/drawing/2014/main" id="{1D6EABC7-51E4-6A44-21F1-22DE54266C86}"/>
              </a:ext>
            </a:extLst>
          </p:cNvPr>
          <p:cNvSpPr txBox="1"/>
          <p:nvPr/>
        </p:nvSpPr>
        <p:spPr>
          <a:xfrm>
            <a:off x="502920" y="1243584"/>
            <a:ext cx="11155680" cy="979424"/>
          </a:xfrm>
          <a:prstGeom prst="rect">
            <a:avLst/>
          </a:prstGeom>
          <a:noFill/>
        </p:spPr>
        <p:txBody>
          <a:bodyPr wrap="square" anchor="t"/>
          <a:lstStyle/>
          <a:p>
            <a:pPr algn="l">
              <a:spcBef>
                <a:spcPts val="0"/>
              </a:spcBef>
              <a:spcAft>
                <a:spcPts val="0"/>
              </a:spcAft>
            </a:pPr>
            <a:r>
              <a:rPr lang="en-US" sz="2000" b="0" i="1" dirty="0">
                <a:solidFill>
                  <a:srgbClr val="007A87"/>
                </a:solidFill>
                <a:latin typeface="Century Gothic"/>
              </a:rPr>
              <a:t>To perform work, a scheduler must be assigned resources in the form of a </a:t>
            </a:r>
            <a:r>
              <a:rPr lang="en-US" sz="2000" b="0" i="1" dirty="0" err="1">
                <a:solidFill>
                  <a:srgbClr val="007A87"/>
                </a:solidFill>
                <a:latin typeface="Century Gothic"/>
              </a:rPr>
              <a:t>Dask</a:t>
            </a:r>
            <a:r>
              <a:rPr lang="en-US" sz="2000" b="0" i="1" dirty="0">
                <a:solidFill>
                  <a:srgbClr val="007A87"/>
                </a:solidFill>
                <a:latin typeface="Century Gothic"/>
              </a:rPr>
              <a:t> cluster. The </a:t>
            </a:r>
            <a:r>
              <a:rPr lang="en-US" sz="2000" b="0" i="1" dirty="0" err="1">
                <a:solidFill>
                  <a:srgbClr val="007A87"/>
                </a:solidFill>
                <a:latin typeface="Century Gothic"/>
              </a:rPr>
              <a:t>Dask</a:t>
            </a:r>
            <a:r>
              <a:rPr lang="en-US" sz="2000" b="0" i="1" dirty="0">
                <a:solidFill>
                  <a:srgbClr val="007A87"/>
                </a:solidFill>
                <a:latin typeface="Century Gothic"/>
              </a:rPr>
              <a:t> cluster has three main components for processing computations in parallel.</a:t>
            </a:r>
            <a:endParaRPr sz="2000" b="0" i="1" dirty="0">
              <a:solidFill>
                <a:srgbClr val="007A87"/>
              </a:solidFill>
              <a:latin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sz="3000" b="1" i="0">
                <a:solidFill>
                  <a:srgbClr val="1A1A1A"/>
                </a:solidFill>
                <a:latin typeface="Century Gothic"/>
              </a:rPr>
              <a:t>What that looks like</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 flowchart labeled 'DASK' illustrating the relationships between components. It shows how the developer interacts with the DASK client, which communicates with the DASK Scheduler which controls the DASK Workers. The results from the DASK workers are fed back to the Client."/>
          <p:cNvPicPr>
            <a:picLocks noChangeAspect="1"/>
          </p:cNvPicPr>
          <p:nvPr/>
        </p:nvPicPr>
        <p:blipFill>
          <a:blip r:embed="rId3"/>
          <a:stretch>
            <a:fillRect/>
          </a:stretch>
        </p:blipFill>
        <p:spPr>
          <a:xfrm>
            <a:off x="3079394" y="1051560"/>
            <a:ext cx="6002730" cy="4754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sz="2600" b="1" i="0" dirty="0">
                <a:solidFill>
                  <a:srgbClr val="1A1A1A"/>
                </a:solidFill>
                <a:latin typeface="Century Gothic"/>
              </a:rPr>
              <a:t>Launch a </a:t>
            </a:r>
            <a:r>
              <a:rPr lang="en-US" sz="2600" b="1" i="0" dirty="0">
                <a:solidFill>
                  <a:srgbClr val="1A1A1A"/>
                </a:solidFill>
                <a:latin typeface="Century Gothic"/>
              </a:rPr>
              <a:t>local </a:t>
            </a:r>
            <a:r>
              <a:rPr sz="2600" b="1" i="0" dirty="0">
                <a:solidFill>
                  <a:srgbClr val="1A1A1A"/>
                </a:solidFill>
                <a:latin typeface="Century Gothic"/>
              </a:rPr>
              <a:t>cluster from Open OnDemand</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02920" y="1625600"/>
            <a:ext cx="5806440" cy="3246120"/>
          </a:xfrm>
          <a:prstGeom prst="roundRect">
            <a:avLst>
              <a:gd name="adj" fmla="val 6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descr="from dask.distributed import LocalCluster, Client&#10;&#10;cluster = LocalCluster(&#10;    n_workers=4,&#10;    threads_per_worker=2,&#10;    memory_limit='auto',&#10;)&#10;client = Client(cluster)&#10;client   # dashboard link lives here&#10;"/>
          <p:cNvSpPr txBox="1"/>
          <p:nvPr/>
        </p:nvSpPr>
        <p:spPr>
          <a:xfrm>
            <a:off x="785368" y="1794255"/>
            <a:ext cx="5440679" cy="2759730"/>
          </a:xfrm>
          <a:prstGeom prst="rect">
            <a:avLst/>
          </a:prstGeom>
          <a:noFill/>
        </p:spPr>
        <p:txBody>
          <a:bodyPr wrap="square">
            <a:spAutoFit/>
          </a:bodyPr>
          <a:lstStyle/>
          <a:p>
            <a:pPr algn="l">
              <a:spcBef>
                <a:spcPts val="100"/>
              </a:spcBef>
              <a:spcAft>
                <a:spcPts val="100"/>
              </a:spcAft>
            </a:pPr>
            <a:r>
              <a:rPr sz="1600" b="0" i="0" dirty="0">
                <a:solidFill>
                  <a:srgbClr val="E6EDF3"/>
                </a:solidFill>
                <a:latin typeface="Consolas"/>
              </a:rPr>
              <a:t>from </a:t>
            </a:r>
            <a:r>
              <a:rPr sz="1600" b="0" i="0" dirty="0" err="1">
                <a:solidFill>
                  <a:srgbClr val="E6EDF3"/>
                </a:solidFill>
                <a:latin typeface="Consolas"/>
              </a:rPr>
              <a:t>dask.distributed</a:t>
            </a:r>
            <a:r>
              <a:rPr sz="1600" b="0" i="0" dirty="0">
                <a:solidFill>
                  <a:srgbClr val="E6EDF3"/>
                </a:solidFill>
                <a:latin typeface="Consolas"/>
              </a:rPr>
              <a:t> import </a:t>
            </a:r>
            <a:r>
              <a:rPr sz="1600" b="0" i="0" dirty="0" err="1">
                <a:solidFill>
                  <a:srgbClr val="E6EDF3"/>
                </a:solidFill>
                <a:latin typeface="Consolas"/>
              </a:rPr>
              <a:t>LocalCluster</a:t>
            </a:r>
            <a:r>
              <a:rPr sz="1600" b="0" i="0" dirty="0">
                <a:solidFill>
                  <a:srgbClr val="E6EDF3"/>
                </a:solidFill>
                <a:latin typeface="Consolas"/>
              </a:rPr>
              <a:t>, Client</a:t>
            </a:r>
          </a:p>
          <a:p>
            <a:pPr algn="l">
              <a:spcBef>
                <a:spcPts val="100"/>
              </a:spcBef>
              <a:spcAft>
                <a:spcPts val="100"/>
              </a:spcAft>
            </a:pPr>
            <a:endParaRPr sz="1600" b="0" i="0" dirty="0">
              <a:solidFill>
                <a:srgbClr val="E6EDF3"/>
              </a:solidFill>
              <a:latin typeface="Consolas"/>
            </a:endParaRPr>
          </a:p>
          <a:p>
            <a:pPr algn="l">
              <a:spcBef>
                <a:spcPts val="100"/>
              </a:spcBef>
              <a:spcAft>
                <a:spcPts val="100"/>
              </a:spcAft>
            </a:pPr>
            <a:r>
              <a:rPr sz="1600" b="0" i="0" dirty="0">
                <a:solidFill>
                  <a:srgbClr val="E6EDF3"/>
                </a:solidFill>
                <a:latin typeface="Consolas"/>
              </a:rPr>
              <a:t>cluster = </a:t>
            </a:r>
            <a:r>
              <a:rPr sz="1600" b="0" i="0" dirty="0" err="1">
                <a:solidFill>
                  <a:srgbClr val="E6EDF3"/>
                </a:solidFill>
                <a:latin typeface="Consolas"/>
              </a:rPr>
              <a:t>LocalCluster</a:t>
            </a:r>
            <a:r>
              <a:rPr sz="1600" b="0" i="0" dirty="0">
                <a:solidFill>
                  <a:srgbClr val="E6EDF3"/>
                </a:solidFill>
                <a:latin typeface="Consolas"/>
              </a:rPr>
              <a:t>(</a:t>
            </a:r>
          </a:p>
          <a:p>
            <a:pPr algn="l">
              <a:spcBef>
                <a:spcPts val="100"/>
              </a:spcBef>
              <a:spcAft>
                <a:spcPts val="100"/>
              </a:spcAft>
            </a:pPr>
            <a:r>
              <a:rPr sz="1600" b="0" i="0" dirty="0">
                <a:solidFill>
                  <a:srgbClr val="E6EDF3"/>
                </a:solidFill>
                <a:latin typeface="Consolas"/>
              </a:rPr>
              <a:t>    </a:t>
            </a:r>
            <a:r>
              <a:rPr sz="1600" b="0" i="0" dirty="0" err="1">
                <a:solidFill>
                  <a:srgbClr val="E6EDF3"/>
                </a:solidFill>
                <a:latin typeface="Consolas"/>
              </a:rPr>
              <a:t>n_workers</a:t>
            </a:r>
            <a:r>
              <a:rPr sz="1600" b="0" i="0" dirty="0">
                <a:solidFill>
                  <a:srgbClr val="E6EDF3"/>
                </a:solidFill>
                <a:latin typeface="Consolas"/>
              </a:rPr>
              <a:t>=4,</a:t>
            </a:r>
          </a:p>
          <a:p>
            <a:pPr algn="l">
              <a:spcBef>
                <a:spcPts val="100"/>
              </a:spcBef>
              <a:spcAft>
                <a:spcPts val="100"/>
              </a:spcAft>
            </a:pPr>
            <a:r>
              <a:rPr sz="1600" b="0" i="0" dirty="0">
                <a:solidFill>
                  <a:srgbClr val="E6EDF3"/>
                </a:solidFill>
                <a:latin typeface="Consolas"/>
              </a:rPr>
              <a:t>    </a:t>
            </a:r>
            <a:r>
              <a:rPr sz="1600" b="0" i="0" dirty="0" err="1">
                <a:solidFill>
                  <a:srgbClr val="E6EDF3"/>
                </a:solidFill>
                <a:latin typeface="Consolas"/>
              </a:rPr>
              <a:t>threads_per_worker</a:t>
            </a:r>
            <a:r>
              <a:rPr sz="1600" b="0" i="0" dirty="0">
                <a:solidFill>
                  <a:srgbClr val="E6EDF3"/>
                </a:solidFill>
                <a:latin typeface="Consolas"/>
              </a:rPr>
              <a:t>=2,</a:t>
            </a:r>
          </a:p>
          <a:p>
            <a:pPr algn="l">
              <a:spcBef>
                <a:spcPts val="100"/>
              </a:spcBef>
              <a:spcAft>
                <a:spcPts val="100"/>
              </a:spcAft>
            </a:pPr>
            <a:r>
              <a:rPr sz="1600" b="0" i="0" dirty="0">
                <a:solidFill>
                  <a:srgbClr val="E6EDF3"/>
                </a:solidFill>
                <a:latin typeface="Consolas"/>
              </a:rPr>
              <a:t>    </a:t>
            </a:r>
            <a:r>
              <a:rPr sz="1600" b="0" i="0" dirty="0" err="1">
                <a:solidFill>
                  <a:srgbClr val="E6EDF3"/>
                </a:solidFill>
                <a:latin typeface="Consolas"/>
              </a:rPr>
              <a:t>memory_limit</a:t>
            </a:r>
            <a:r>
              <a:rPr sz="1600" b="0" i="0" dirty="0">
                <a:solidFill>
                  <a:srgbClr val="E6EDF3"/>
                </a:solidFill>
                <a:latin typeface="Consolas"/>
              </a:rPr>
              <a:t>='auto',</a:t>
            </a:r>
          </a:p>
          <a:p>
            <a:pPr algn="l">
              <a:spcBef>
                <a:spcPts val="100"/>
              </a:spcBef>
              <a:spcAft>
                <a:spcPts val="100"/>
              </a:spcAft>
            </a:pPr>
            <a:r>
              <a:rPr sz="1600" b="0" i="0" dirty="0">
                <a:solidFill>
                  <a:srgbClr val="E6EDF3"/>
                </a:solidFill>
                <a:latin typeface="Consolas"/>
              </a:rPr>
              <a:t>)</a:t>
            </a:r>
          </a:p>
          <a:p>
            <a:pPr algn="l">
              <a:spcBef>
                <a:spcPts val="100"/>
              </a:spcBef>
              <a:spcAft>
                <a:spcPts val="100"/>
              </a:spcAft>
            </a:pPr>
            <a:r>
              <a:rPr sz="1600" b="0" i="0" dirty="0">
                <a:solidFill>
                  <a:srgbClr val="E6EDF3"/>
                </a:solidFill>
                <a:latin typeface="Consolas"/>
              </a:rPr>
              <a:t>client = Client(cluster)</a:t>
            </a:r>
          </a:p>
          <a:p>
            <a:pPr algn="l">
              <a:spcBef>
                <a:spcPts val="100"/>
              </a:spcBef>
              <a:spcAft>
                <a:spcPts val="100"/>
              </a:spcAft>
            </a:pPr>
            <a:r>
              <a:rPr sz="1600" b="0" i="0" dirty="0">
                <a:solidFill>
                  <a:srgbClr val="E6EDF3"/>
                </a:solidFill>
                <a:latin typeface="Consolas"/>
              </a:rPr>
              <a:t>client   # dashboard link lives here</a:t>
            </a:r>
          </a:p>
        </p:txBody>
      </p:sp>
      <p:sp>
        <p:nvSpPr>
          <p:cNvPr id="7" name="TextBox 6"/>
          <p:cNvSpPr txBox="1"/>
          <p:nvPr/>
        </p:nvSpPr>
        <p:spPr>
          <a:xfrm>
            <a:off x="6510528" y="1368108"/>
            <a:ext cx="5212080" cy="1656864"/>
          </a:xfrm>
          <a:prstGeom prst="rect">
            <a:avLst/>
          </a:prstGeom>
          <a:noFill/>
        </p:spPr>
        <p:txBody>
          <a:bodyPr wrap="square">
            <a:spAutoFit/>
          </a:bodyPr>
          <a:lstStyle/>
          <a:p>
            <a:pPr algn="l">
              <a:spcBef>
                <a:spcPts val="200"/>
              </a:spcBef>
              <a:spcAft>
                <a:spcPts val="1200"/>
              </a:spcAft>
            </a:pPr>
            <a:r>
              <a:rPr lang="en-US" b="0" i="0" dirty="0">
                <a:solidFill>
                  <a:srgbClr val="2F2F2F"/>
                </a:solidFill>
                <a:latin typeface="Arial"/>
              </a:rPr>
              <a:t>•  A </a:t>
            </a:r>
            <a:r>
              <a:rPr lang="en-US" b="0" i="0" dirty="0" err="1">
                <a:solidFill>
                  <a:srgbClr val="2F2F2F"/>
                </a:solidFill>
                <a:latin typeface="Arial"/>
              </a:rPr>
              <a:t>LocalCluster</a:t>
            </a:r>
            <a:r>
              <a:rPr lang="en-US" b="0" i="0" dirty="0">
                <a:solidFill>
                  <a:srgbClr val="2F2F2F"/>
                </a:solidFill>
                <a:latin typeface="Arial"/>
              </a:rPr>
              <a:t> runs all components on a single node and is useful for development and small-scale parallel workloads.</a:t>
            </a:r>
          </a:p>
          <a:p>
            <a:pPr>
              <a:spcBef>
                <a:spcPts val="200"/>
              </a:spcBef>
              <a:spcAft>
                <a:spcPts val="1200"/>
              </a:spcAft>
            </a:pPr>
            <a:r>
              <a:rPr lang="en-US" dirty="0">
                <a:solidFill>
                  <a:srgbClr val="2F2F2F"/>
                </a:solidFill>
              </a:rPr>
              <a:t>•  For this we need to set up a </a:t>
            </a:r>
            <a:r>
              <a:rPr lang="en-US" dirty="0" err="1">
                <a:solidFill>
                  <a:srgbClr val="2F2F2F"/>
                </a:solidFill>
              </a:rPr>
              <a:t>LocalCluster</a:t>
            </a:r>
            <a:r>
              <a:rPr lang="en-US" dirty="0">
                <a:solidFill>
                  <a:srgbClr val="2F2F2F"/>
                </a:solidFill>
              </a:rPr>
              <a:t> using </a:t>
            </a:r>
            <a:r>
              <a:rPr lang="en-US" dirty="0" err="1">
                <a:solidFill>
                  <a:srgbClr val="2F2F2F"/>
                </a:solidFill>
              </a:rPr>
              <a:t>dask.distributed</a:t>
            </a:r>
            <a:r>
              <a:rPr lang="en-US" dirty="0">
                <a:solidFill>
                  <a:srgbClr val="2F2F2F"/>
                </a:solidFill>
              </a:rPr>
              <a:t> and connect a client to it.</a:t>
            </a:r>
          </a:p>
        </p:txBody>
      </p:sp>
      <p:sp>
        <p:nvSpPr>
          <p:cNvPr id="10" name="Rounded Rectangle 5">
            <a:extLst>
              <a:ext uri="{FF2B5EF4-FFF2-40B4-BE49-F238E27FC236}">
                <a16:creationId xmlns:a16="http://schemas.microsoft.com/office/drawing/2014/main" id="{4849739B-0E6B-5FEA-4BCB-ED6AAFB24437}"/>
              </a:ext>
              <a:ext uri="{C183D7F6-B498-43B3-948B-1728B52AA6E4}">
                <adec:decorative xmlns:adec="http://schemas.microsoft.com/office/drawing/2017/decorative" val="1"/>
              </a:ext>
            </a:extLst>
          </p:cNvPr>
          <p:cNvSpPr/>
          <p:nvPr/>
        </p:nvSpPr>
        <p:spPr>
          <a:xfrm>
            <a:off x="6672072" y="3535680"/>
            <a:ext cx="4534408" cy="2458720"/>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descr="•  Match workers × threads to the cores you requested&#10;•  No arguments? Dask sizes itself to the session&#10;•  When you are done: client.close() and cluster.close()&#10;">
            <a:extLst>
              <a:ext uri="{FF2B5EF4-FFF2-40B4-BE49-F238E27FC236}">
                <a16:creationId xmlns:a16="http://schemas.microsoft.com/office/drawing/2014/main" id="{576D703F-68F5-DD72-CE29-445DF53BD013}"/>
              </a:ext>
            </a:extLst>
          </p:cNvPr>
          <p:cNvSpPr txBox="1"/>
          <p:nvPr/>
        </p:nvSpPr>
        <p:spPr>
          <a:xfrm>
            <a:off x="6820916" y="4125337"/>
            <a:ext cx="4236720" cy="1723549"/>
          </a:xfrm>
          <a:prstGeom prst="rect">
            <a:avLst/>
          </a:prstGeom>
          <a:noFill/>
        </p:spPr>
        <p:txBody>
          <a:bodyPr wrap="square">
            <a:spAutoFit/>
          </a:bodyPr>
          <a:lstStyle/>
          <a:p>
            <a:pPr>
              <a:spcAft>
                <a:spcPts val="600"/>
              </a:spcAft>
            </a:pPr>
            <a:r>
              <a:rPr lang="en-US" sz="1600" dirty="0">
                <a:solidFill>
                  <a:srgbClr val="2F2F2F"/>
                </a:solidFill>
              </a:rPr>
              <a:t>•  Match workers × threads to the cores you requested</a:t>
            </a:r>
          </a:p>
          <a:p>
            <a:pPr>
              <a:spcAft>
                <a:spcPts val="600"/>
              </a:spcAft>
            </a:pPr>
            <a:r>
              <a:rPr lang="en-US" sz="1600" dirty="0">
                <a:solidFill>
                  <a:srgbClr val="2F2F2F"/>
                </a:solidFill>
              </a:rPr>
              <a:t>•  No arguments? </a:t>
            </a:r>
            <a:r>
              <a:rPr lang="en-US" sz="1600" dirty="0" err="1">
                <a:solidFill>
                  <a:srgbClr val="2F2F2F"/>
                </a:solidFill>
              </a:rPr>
              <a:t>Dask</a:t>
            </a:r>
            <a:r>
              <a:rPr lang="en-US" sz="1600" dirty="0">
                <a:solidFill>
                  <a:srgbClr val="2F2F2F"/>
                </a:solidFill>
              </a:rPr>
              <a:t> sizes itself to the session</a:t>
            </a:r>
          </a:p>
          <a:p>
            <a:pPr>
              <a:spcAft>
                <a:spcPts val="600"/>
              </a:spcAft>
            </a:pPr>
            <a:r>
              <a:rPr lang="en-US" sz="1600" dirty="0">
                <a:solidFill>
                  <a:srgbClr val="2F2F2F"/>
                </a:solidFill>
              </a:rPr>
              <a:t>•  When you are done: </a:t>
            </a:r>
            <a:r>
              <a:rPr lang="en-US" sz="1600" dirty="0" err="1">
                <a:solidFill>
                  <a:srgbClr val="2F2F2F"/>
                </a:solidFill>
              </a:rPr>
              <a:t>client.close</a:t>
            </a:r>
            <a:r>
              <a:rPr lang="en-US" sz="1600" dirty="0">
                <a:solidFill>
                  <a:srgbClr val="2F2F2F"/>
                </a:solidFill>
              </a:rPr>
              <a:t>() and </a:t>
            </a:r>
            <a:r>
              <a:rPr lang="en-US" sz="1600" dirty="0" err="1">
                <a:solidFill>
                  <a:srgbClr val="2F2F2F"/>
                </a:solidFill>
              </a:rPr>
              <a:t>cluster.close</a:t>
            </a:r>
            <a:r>
              <a:rPr lang="en-US" sz="1600" dirty="0">
                <a:solidFill>
                  <a:srgbClr val="2F2F2F"/>
                </a:solidFill>
              </a:rPr>
              <a:t>()</a:t>
            </a:r>
            <a:endParaRPr sz="1600" b="0" i="0" dirty="0">
              <a:solidFill>
                <a:srgbClr val="2F2F2F"/>
              </a:solidFill>
              <a:latin typeface="Arial"/>
            </a:endParaRPr>
          </a:p>
        </p:txBody>
      </p:sp>
      <p:sp>
        <p:nvSpPr>
          <p:cNvPr id="14" name="TextBox 13">
            <a:extLst>
              <a:ext uri="{FF2B5EF4-FFF2-40B4-BE49-F238E27FC236}">
                <a16:creationId xmlns:a16="http://schemas.microsoft.com/office/drawing/2014/main" id="{97B05721-D878-D4A5-BE06-C624240F84C2}"/>
              </a:ext>
            </a:extLst>
          </p:cNvPr>
          <p:cNvSpPr txBox="1"/>
          <p:nvPr/>
        </p:nvSpPr>
        <p:spPr>
          <a:xfrm>
            <a:off x="6820916" y="3675418"/>
            <a:ext cx="3246120" cy="320040"/>
          </a:xfrm>
          <a:prstGeom prst="rect">
            <a:avLst/>
          </a:prstGeom>
          <a:noFill/>
        </p:spPr>
        <p:txBody>
          <a:bodyPr wrap="square" anchor="t"/>
          <a:lstStyle/>
          <a:p>
            <a:pPr algn="l">
              <a:spcBef>
                <a:spcPts val="0"/>
              </a:spcBef>
              <a:spcAft>
                <a:spcPts val="0"/>
              </a:spcAft>
            </a:pPr>
            <a:r>
              <a:rPr lang="en-US" sz="1600" b="1" i="0" dirty="0">
                <a:solidFill>
                  <a:srgbClr val="007A87"/>
                </a:solidFill>
                <a:latin typeface="Arial"/>
              </a:rPr>
              <a:t>Things to note:</a:t>
            </a:r>
            <a:endParaRPr sz="1600" b="1" i="0" dirty="0">
              <a:solidFill>
                <a:srgbClr val="007A87"/>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sz="3000" b="1" i="0">
                <a:solidFill>
                  <a:srgbClr val="1A1A1A"/>
                </a:solidFill>
                <a:latin typeface="Century Gothic"/>
              </a:rPr>
              <a:t>The dashboard is your X-ray</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n interface displaying various charts and graphs related to task management that can be accessed using Dask. Sections include a task graph illustrating statuses, a progress bar showing task completion, a task stream with a timeline, workers' memory chart, and a cluster map with colored circles. "/>
          <p:cNvPicPr>
            <a:picLocks noChangeAspect="1"/>
          </p:cNvPicPr>
          <p:nvPr/>
        </p:nvPicPr>
        <p:blipFill>
          <a:blip r:embed="rId3"/>
          <a:stretch>
            <a:fillRect/>
          </a:stretch>
        </p:blipFill>
        <p:spPr>
          <a:xfrm>
            <a:off x="3387627" y="897890"/>
            <a:ext cx="4110453" cy="5433414"/>
          </a:xfrm>
          <a:prstGeom prst="rect">
            <a:avLst/>
          </a:prstGeom>
        </p:spPr>
      </p:pic>
      <p:sp>
        <p:nvSpPr>
          <p:cNvPr id="6" name="Rounded Rectangle 5">
            <a:extLst>
              <a:ext uri="{C183D7F6-B498-43B3-948B-1728B52AA6E4}">
                <adec:decorative xmlns:adec="http://schemas.microsoft.com/office/drawing/2017/decorative" val="1"/>
              </a:ext>
            </a:extLst>
          </p:cNvPr>
          <p:cNvSpPr/>
          <p:nvPr/>
        </p:nvSpPr>
        <p:spPr>
          <a:xfrm>
            <a:off x="8141774" y="1097280"/>
            <a:ext cx="3562546" cy="3220720"/>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75320" y="1280160"/>
            <a:ext cx="3246120" cy="320040"/>
          </a:xfrm>
          <a:prstGeom prst="rect">
            <a:avLst/>
          </a:prstGeom>
          <a:noFill/>
        </p:spPr>
        <p:txBody>
          <a:bodyPr wrap="square" anchor="t"/>
          <a:lstStyle/>
          <a:p>
            <a:pPr algn="l">
              <a:spcBef>
                <a:spcPts val="0"/>
              </a:spcBef>
              <a:spcAft>
                <a:spcPts val="0"/>
              </a:spcAft>
            </a:pPr>
            <a:r>
              <a:rPr sz="1600" b="1" i="0" dirty="0">
                <a:solidFill>
                  <a:srgbClr val="007A87"/>
                </a:solidFill>
                <a:latin typeface="Arial"/>
              </a:rPr>
              <a:t>WATCH FOR</a:t>
            </a:r>
            <a:r>
              <a:rPr lang="en-US" sz="1600" b="1" i="0" dirty="0">
                <a:solidFill>
                  <a:srgbClr val="007A87"/>
                </a:solidFill>
                <a:latin typeface="Arial"/>
              </a:rPr>
              <a:t>:</a:t>
            </a:r>
            <a:endParaRPr sz="1600" b="1" i="0" dirty="0">
              <a:solidFill>
                <a:srgbClr val="007A87"/>
              </a:solidFill>
              <a:latin typeface="Arial"/>
            </a:endParaRPr>
          </a:p>
        </p:txBody>
      </p:sp>
      <p:sp>
        <p:nvSpPr>
          <p:cNvPr id="8" name="TextBox 7" descr="•  Task stream: are many workers busy at once?&#10;•  Progress: which functions are stuck?&#10;•  Worker memory: is one worker stockpiling?&#10;•  Graph: did you accidentally build one task?&#10;"/>
          <p:cNvSpPr txBox="1"/>
          <p:nvPr/>
        </p:nvSpPr>
        <p:spPr>
          <a:xfrm>
            <a:off x="8299987" y="1812632"/>
            <a:ext cx="3246120" cy="2292935"/>
          </a:xfrm>
          <a:prstGeom prst="rect">
            <a:avLst/>
          </a:prstGeom>
          <a:noFill/>
        </p:spPr>
        <p:txBody>
          <a:bodyPr wrap="square">
            <a:spAutoFit/>
          </a:bodyPr>
          <a:lstStyle/>
          <a:p>
            <a:pPr algn="l">
              <a:spcAft>
                <a:spcPts val="600"/>
              </a:spcAft>
            </a:pPr>
            <a:r>
              <a:rPr sz="1600" b="0" i="0" dirty="0">
                <a:solidFill>
                  <a:srgbClr val="2F2F2F"/>
                </a:solidFill>
                <a:latin typeface="Arial"/>
              </a:rPr>
              <a:t>•  Task stream</a:t>
            </a:r>
            <a:r>
              <a:rPr lang="en-US" sz="1600" b="0" i="0" dirty="0">
                <a:solidFill>
                  <a:srgbClr val="2F2F2F"/>
                </a:solidFill>
                <a:latin typeface="Arial"/>
              </a:rPr>
              <a:t>:</a:t>
            </a:r>
            <a:r>
              <a:rPr sz="1600" b="0" i="0" dirty="0">
                <a:solidFill>
                  <a:srgbClr val="2F2F2F"/>
                </a:solidFill>
                <a:latin typeface="Arial"/>
              </a:rPr>
              <a:t> are many workers busy at once?</a:t>
            </a:r>
          </a:p>
          <a:p>
            <a:pPr algn="l">
              <a:spcAft>
                <a:spcPts val="600"/>
              </a:spcAft>
            </a:pPr>
            <a:r>
              <a:rPr sz="1600" b="0" i="0" dirty="0">
                <a:solidFill>
                  <a:srgbClr val="2F2F2F"/>
                </a:solidFill>
                <a:latin typeface="Arial"/>
              </a:rPr>
              <a:t>•  Progress</a:t>
            </a:r>
            <a:r>
              <a:rPr lang="en-US" sz="1600" b="0" i="0" dirty="0">
                <a:solidFill>
                  <a:srgbClr val="2F2F2F"/>
                </a:solidFill>
                <a:latin typeface="Arial"/>
              </a:rPr>
              <a:t>:</a:t>
            </a:r>
            <a:r>
              <a:rPr sz="1600" b="0" i="0" dirty="0">
                <a:solidFill>
                  <a:srgbClr val="2F2F2F"/>
                </a:solidFill>
                <a:latin typeface="Arial"/>
              </a:rPr>
              <a:t> which functions are stuck?</a:t>
            </a:r>
          </a:p>
          <a:p>
            <a:pPr algn="l">
              <a:spcAft>
                <a:spcPts val="600"/>
              </a:spcAft>
            </a:pPr>
            <a:r>
              <a:rPr sz="1600" b="0" i="0" dirty="0">
                <a:solidFill>
                  <a:srgbClr val="2F2F2F"/>
                </a:solidFill>
                <a:latin typeface="Arial"/>
              </a:rPr>
              <a:t>•  Worker memory</a:t>
            </a:r>
            <a:r>
              <a:rPr lang="en-US" sz="1600" b="0" i="0" dirty="0">
                <a:solidFill>
                  <a:srgbClr val="2F2F2F"/>
                </a:solidFill>
                <a:latin typeface="Arial"/>
              </a:rPr>
              <a:t>:</a:t>
            </a:r>
            <a:r>
              <a:rPr sz="1600" b="0" i="0" dirty="0">
                <a:solidFill>
                  <a:srgbClr val="2F2F2F"/>
                </a:solidFill>
                <a:latin typeface="Arial"/>
              </a:rPr>
              <a:t> is one worker </a:t>
            </a:r>
            <a:r>
              <a:rPr lang="en-US" sz="1600" dirty="0">
                <a:solidFill>
                  <a:srgbClr val="2F2F2F"/>
                </a:solidFill>
                <a:latin typeface="Arial"/>
              </a:rPr>
              <a:t>s</a:t>
            </a:r>
            <a:r>
              <a:rPr lang="en-US" sz="1600" b="0" i="0" dirty="0">
                <a:solidFill>
                  <a:srgbClr val="2F2F2F"/>
                </a:solidFill>
                <a:latin typeface="Arial"/>
              </a:rPr>
              <a:t>tockpiling</a:t>
            </a:r>
            <a:r>
              <a:rPr sz="1600" b="0" i="0" dirty="0">
                <a:solidFill>
                  <a:srgbClr val="2F2F2F"/>
                </a:solidFill>
                <a:latin typeface="Arial"/>
              </a:rPr>
              <a:t>?</a:t>
            </a:r>
          </a:p>
          <a:p>
            <a:pPr algn="l">
              <a:spcAft>
                <a:spcPts val="600"/>
              </a:spcAft>
            </a:pPr>
            <a:r>
              <a:rPr sz="1600" b="0" i="0" dirty="0">
                <a:solidFill>
                  <a:srgbClr val="2F2F2F"/>
                </a:solidFill>
                <a:latin typeface="Arial"/>
              </a:rPr>
              <a:t>•  Graph</a:t>
            </a:r>
            <a:r>
              <a:rPr lang="en-US" sz="1600" b="0" i="0" dirty="0">
                <a:solidFill>
                  <a:srgbClr val="2F2F2F"/>
                </a:solidFill>
                <a:latin typeface="Arial"/>
              </a:rPr>
              <a:t>:</a:t>
            </a:r>
            <a:r>
              <a:rPr sz="1600" b="0" i="0" dirty="0">
                <a:solidFill>
                  <a:srgbClr val="2F2F2F"/>
                </a:solidFill>
                <a:latin typeface="Arial"/>
              </a:rPr>
              <a:t> did you accidentally build one task?</a:t>
            </a:r>
          </a:p>
        </p:txBody>
      </p:sp>
      <p:sp>
        <p:nvSpPr>
          <p:cNvPr id="10" name="TextBox 9">
            <a:extLst>
              <a:ext uri="{FF2B5EF4-FFF2-40B4-BE49-F238E27FC236}">
                <a16:creationId xmlns:a16="http://schemas.microsoft.com/office/drawing/2014/main" id="{4B07CA63-AA3C-1B5D-6E41-1D4094E5CFF0}"/>
              </a:ext>
            </a:extLst>
          </p:cNvPr>
          <p:cNvSpPr txBox="1"/>
          <p:nvPr/>
        </p:nvSpPr>
        <p:spPr>
          <a:xfrm>
            <a:off x="502920" y="1243584"/>
            <a:ext cx="2524760" cy="2577084"/>
          </a:xfrm>
          <a:prstGeom prst="rect">
            <a:avLst/>
          </a:prstGeom>
          <a:noFill/>
        </p:spPr>
        <p:txBody>
          <a:bodyPr wrap="square" anchor="t"/>
          <a:lstStyle/>
          <a:p>
            <a:pPr algn="l">
              <a:spcBef>
                <a:spcPts val="0"/>
              </a:spcBef>
              <a:spcAft>
                <a:spcPts val="0"/>
              </a:spcAft>
            </a:pPr>
            <a:r>
              <a:rPr lang="en-US" sz="2000" b="0" i="1" dirty="0" err="1">
                <a:solidFill>
                  <a:srgbClr val="007A87"/>
                </a:solidFill>
                <a:latin typeface="Century Gothic"/>
              </a:rPr>
              <a:t>Dask</a:t>
            </a:r>
            <a:r>
              <a:rPr lang="en-US" sz="2000" b="0" i="1" dirty="0">
                <a:solidFill>
                  <a:srgbClr val="007A87"/>
                </a:solidFill>
                <a:latin typeface="Century Gothic"/>
              </a:rPr>
              <a:t> Dashboard is a web interface that provides real-time insights into task execution, CPU and memory usage, and worker activity.</a:t>
            </a:r>
            <a:endParaRPr sz="2000" b="0" i="1" dirty="0">
              <a:solidFill>
                <a:srgbClr val="007A87"/>
              </a:solidFill>
              <a:latin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lang="en-US" sz="2600" b="1" i="0" dirty="0">
                <a:solidFill>
                  <a:srgbClr val="1A1A1A"/>
                </a:solidFill>
                <a:latin typeface="Century Gothic"/>
              </a:rPr>
              <a:t>Caveat</a:t>
            </a:r>
            <a:r>
              <a:rPr lang="en-US" sz="2600" b="1" dirty="0">
                <a:solidFill>
                  <a:srgbClr val="1A1A1A"/>
                </a:solidFill>
                <a:latin typeface="Century Gothic"/>
              </a:rPr>
              <a:t>: </a:t>
            </a:r>
            <a:r>
              <a:rPr sz="2600" b="1" i="0" dirty="0">
                <a:solidFill>
                  <a:srgbClr val="1A1A1A"/>
                </a:solidFill>
                <a:latin typeface="Century Gothic"/>
              </a:rPr>
              <a:t>the proxy URL</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02920" y="1078992"/>
            <a:ext cx="5852160" cy="4297680"/>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34440"/>
            <a:ext cx="5440680" cy="274320"/>
          </a:xfrm>
          <a:prstGeom prst="rect">
            <a:avLst/>
          </a:prstGeom>
          <a:noFill/>
        </p:spPr>
        <p:txBody>
          <a:bodyPr wrap="square" anchor="t"/>
          <a:lstStyle/>
          <a:p>
            <a:pPr algn="l">
              <a:spcBef>
                <a:spcPts val="0"/>
              </a:spcBef>
              <a:spcAft>
                <a:spcPts val="0"/>
              </a:spcAft>
            </a:pPr>
            <a:r>
              <a:rPr sz="1400" b="1" i="0" dirty="0">
                <a:solidFill>
                  <a:srgbClr val="A32D2D"/>
                </a:solidFill>
                <a:latin typeface="Arial"/>
              </a:rPr>
              <a:t>REWRITE THE URL</a:t>
            </a:r>
          </a:p>
        </p:txBody>
      </p:sp>
      <p:sp>
        <p:nvSpPr>
          <p:cNvPr id="7" name="TextBox 6"/>
          <p:cNvSpPr txBox="1"/>
          <p:nvPr/>
        </p:nvSpPr>
        <p:spPr>
          <a:xfrm>
            <a:off x="731520" y="1600200"/>
            <a:ext cx="5440680" cy="320040"/>
          </a:xfrm>
          <a:prstGeom prst="rect">
            <a:avLst/>
          </a:prstGeom>
          <a:noFill/>
        </p:spPr>
        <p:txBody>
          <a:bodyPr wrap="square" anchor="t"/>
          <a:lstStyle/>
          <a:p>
            <a:pPr algn="l">
              <a:spcBef>
                <a:spcPts val="0"/>
              </a:spcBef>
              <a:spcAft>
                <a:spcPts val="0"/>
              </a:spcAft>
            </a:pPr>
            <a:r>
              <a:rPr sz="1400" b="0" i="0" dirty="0" err="1">
                <a:solidFill>
                  <a:srgbClr val="5C5C5C"/>
                </a:solidFill>
                <a:latin typeface="Arial"/>
              </a:rPr>
              <a:t>Dask</a:t>
            </a:r>
            <a:r>
              <a:rPr sz="1400" b="0" i="0" dirty="0">
                <a:solidFill>
                  <a:srgbClr val="5C5C5C"/>
                </a:solidFill>
                <a:latin typeface="Arial"/>
              </a:rPr>
              <a:t> reports this</a:t>
            </a:r>
            <a:r>
              <a:rPr lang="en-US" sz="1400" b="0" i="0" dirty="0">
                <a:solidFill>
                  <a:srgbClr val="5C5C5C"/>
                </a:solidFill>
                <a:latin typeface="Arial"/>
              </a:rPr>
              <a:t> and</a:t>
            </a:r>
            <a:r>
              <a:rPr sz="1400" b="0" i="0" dirty="0">
                <a:solidFill>
                  <a:srgbClr val="5C5C5C"/>
                </a:solidFill>
                <a:latin typeface="Arial"/>
              </a:rPr>
              <a:t> it will not open in OOD:</a:t>
            </a:r>
          </a:p>
        </p:txBody>
      </p:sp>
      <p:sp>
        <p:nvSpPr>
          <p:cNvPr id="8" name="Rounded Rectangle 7">
            <a:extLst>
              <a:ext uri="{C183D7F6-B498-43B3-948B-1728B52AA6E4}">
                <adec:decorative xmlns:adec="http://schemas.microsoft.com/office/drawing/2017/decorative" val="1"/>
              </a:ext>
            </a:extLst>
          </p:cNvPr>
          <p:cNvSpPr/>
          <p:nvPr/>
        </p:nvSpPr>
        <p:spPr>
          <a:xfrm>
            <a:off x="731520" y="1965960"/>
            <a:ext cx="5394960" cy="640080"/>
          </a:xfrm>
          <a:prstGeom prst="roundRect">
            <a:avLst>
              <a:gd name="adj" fmla="val 6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descr="http://127.0.0.1:8787/status&#10;"/>
          <p:cNvSpPr txBox="1"/>
          <p:nvPr/>
        </p:nvSpPr>
        <p:spPr>
          <a:xfrm>
            <a:off x="932688" y="2093976"/>
            <a:ext cx="5029200" cy="338554"/>
          </a:xfrm>
          <a:prstGeom prst="rect">
            <a:avLst/>
          </a:prstGeom>
          <a:noFill/>
        </p:spPr>
        <p:txBody>
          <a:bodyPr wrap="square">
            <a:spAutoFit/>
          </a:bodyPr>
          <a:lstStyle/>
          <a:p>
            <a:pPr algn="l">
              <a:spcBef>
                <a:spcPts val="100"/>
              </a:spcBef>
              <a:spcAft>
                <a:spcPts val="100"/>
              </a:spcAft>
            </a:pPr>
            <a:r>
              <a:rPr sz="1600" b="0" i="0" dirty="0">
                <a:solidFill>
                  <a:srgbClr val="E6EDF3"/>
                </a:solidFill>
                <a:latin typeface="Consolas"/>
              </a:rPr>
              <a:t>http://127.0.0.1:8787/status</a:t>
            </a:r>
          </a:p>
        </p:txBody>
      </p:sp>
      <p:sp>
        <p:nvSpPr>
          <p:cNvPr id="10" name="TextBox 9"/>
          <p:cNvSpPr txBox="1"/>
          <p:nvPr/>
        </p:nvSpPr>
        <p:spPr>
          <a:xfrm>
            <a:off x="731520" y="2743200"/>
            <a:ext cx="5440680" cy="320040"/>
          </a:xfrm>
          <a:prstGeom prst="rect">
            <a:avLst/>
          </a:prstGeom>
          <a:noFill/>
        </p:spPr>
        <p:txBody>
          <a:bodyPr wrap="square" anchor="t"/>
          <a:lstStyle/>
          <a:p>
            <a:pPr algn="l">
              <a:spcBef>
                <a:spcPts val="0"/>
              </a:spcBef>
              <a:spcAft>
                <a:spcPts val="0"/>
              </a:spcAft>
            </a:pPr>
            <a:r>
              <a:rPr sz="1400" b="0" i="0">
                <a:solidFill>
                  <a:srgbClr val="5C5C5C"/>
                </a:solidFill>
                <a:latin typeface="Arial"/>
              </a:rPr>
              <a:t>Your Jupyter session looks like this:</a:t>
            </a:r>
          </a:p>
        </p:txBody>
      </p:sp>
      <p:sp>
        <p:nvSpPr>
          <p:cNvPr id="11" name="Rounded Rectangle 10">
            <a:extLst>
              <a:ext uri="{C183D7F6-B498-43B3-948B-1728B52AA6E4}">
                <adec:decorative xmlns:adec="http://schemas.microsoft.com/office/drawing/2017/decorative" val="1"/>
              </a:ext>
            </a:extLst>
          </p:cNvPr>
          <p:cNvSpPr/>
          <p:nvPr/>
        </p:nvSpPr>
        <p:spPr>
          <a:xfrm>
            <a:off x="731520" y="3108960"/>
            <a:ext cx="5394960" cy="640080"/>
          </a:xfrm>
          <a:prstGeom prst="roundRect">
            <a:avLst>
              <a:gd name="adj" fmla="val 6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descr="https://ondemand.rc.colorado.edu/node/&lt;node&gt;/&lt;port&gt;/&#10;"/>
          <p:cNvSpPr txBox="1"/>
          <p:nvPr/>
        </p:nvSpPr>
        <p:spPr>
          <a:xfrm>
            <a:off x="770128" y="3236976"/>
            <a:ext cx="5320792" cy="307777"/>
          </a:xfrm>
          <a:prstGeom prst="rect">
            <a:avLst/>
          </a:prstGeom>
          <a:noFill/>
        </p:spPr>
        <p:txBody>
          <a:bodyPr wrap="square">
            <a:spAutoFit/>
          </a:bodyPr>
          <a:lstStyle/>
          <a:p>
            <a:pPr algn="l">
              <a:spcBef>
                <a:spcPts val="100"/>
              </a:spcBef>
              <a:spcAft>
                <a:spcPts val="100"/>
              </a:spcAft>
            </a:pPr>
            <a:r>
              <a:rPr sz="1400" b="0" i="0" dirty="0">
                <a:solidFill>
                  <a:srgbClr val="E6EDF3"/>
                </a:solidFill>
                <a:latin typeface="Consolas"/>
              </a:rPr>
              <a:t>https://ondemand.rc.colorado.edu/node/&lt;node&gt;/&lt;port&gt;/</a:t>
            </a:r>
          </a:p>
        </p:txBody>
      </p:sp>
      <p:sp>
        <p:nvSpPr>
          <p:cNvPr id="13" name="TextBox 12"/>
          <p:cNvSpPr txBox="1"/>
          <p:nvPr/>
        </p:nvSpPr>
        <p:spPr>
          <a:xfrm>
            <a:off x="731520" y="3886200"/>
            <a:ext cx="5440680" cy="320040"/>
          </a:xfrm>
          <a:prstGeom prst="rect">
            <a:avLst/>
          </a:prstGeom>
          <a:noFill/>
        </p:spPr>
        <p:txBody>
          <a:bodyPr wrap="square" anchor="t"/>
          <a:lstStyle/>
          <a:p>
            <a:pPr algn="l">
              <a:spcBef>
                <a:spcPts val="0"/>
              </a:spcBef>
              <a:spcAft>
                <a:spcPts val="0"/>
              </a:spcAft>
            </a:pPr>
            <a:r>
              <a:rPr sz="1400" b="0" i="0" dirty="0">
                <a:solidFill>
                  <a:srgbClr val="5C5C5C"/>
                </a:solidFill>
                <a:latin typeface="Arial"/>
              </a:rPr>
              <a:t>Append the proxy path:</a:t>
            </a:r>
          </a:p>
        </p:txBody>
      </p:sp>
      <p:sp>
        <p:nvSpPr>
          <p:cNvPr id="14" name="Rounded Rectangle 13">
            <a:extLst>
              <a:ext uri="{C183D7F6-B498-43B3-948B-1728B52AA6E4}">
                <adec:decorative xmlns:adec="http://schemas.microsoft.com/office/drawing/2017/decorative" val="1"/>
              </a:ext>
            </a:extLst>
          </p:cNvPr>
          <p:cNvSpPr/>
          <p:nvPr/>
        </p:nvSpPr>
        <p:spPr>
          <a:xfrm>
            <a:off x="731520" y="4251960"/>
            <a:ext cx="5394960" cy="868680"/>
          </a:xfrm>
          <a:prstGeom prst="roundRect">
            <a:avLst>
              <a:gd name="adj" fmla="val 6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descr="https://ondemand.rc.colorado.edu/node/&lt;node&gt;/&lt;port&gt;/proxy/8787/status&#10;"/>
          <p:cNvSpPr txBox="1"/>
          <p:nvPr/>
        </p:nvSpPr>
        <p:spPr>
          <a:xfrm>
            <a:off x="932688" y="4379976"/>
            <a:ext cx="5029200" cy="523220"/>
          </a:xfrm>
          <a:prstGeom prst="rect">
            <a:avLst/>
          </a:prstGeom>
          <a:noFill/>
        </p:spPr>
        <p:txBody>
          <a:bodyPr wrap="square">
            <a:spAutoFit/>
          </a:bodyPr>
          <a:lstStyle/>
          <a:p>
            <a:pPr algn="l">
              <a:spcBef>
                <a:spcPts val="100"/>
              </a:spcBef>
              <a:spcAft>
                <a:spcPts val="100"/>
              </a:spcAft>
            </a:pPr>
            <a:r>
              <a:rPr sz="1400" b="0" i="0" dirty="0">
                <a:solidFill>
                  <a:srgbClr val="E6EDF3"/>
                </a:solidFill>
                <a:latin typeface="Consolas"/>
              </a:rPr>
              <a:t>https://ondemand.rc.colorado.edu/node/&lt;node&gt;/&lt;port&gt;/proxy/8787/status</a:t>
            </a:r>
          </a:p>
        </p:txBody>
      </p:sp>
      <p:pic>
        <p:nvPicPr>
          <p:cNvPr id="16" name="Picture 15" descr="Screenshot showing a JupyterLab session and instructions for modifying the Dask dashboard URL by appending /proxy/8787/status for Open OnDemand access. Described in the slide’s “REWRITE THE URL”"/>
          <p:cNvPicPr>
            <a:picLocks noChangeAspect="1"/>
          </p:cNvPicPr>
          <p:nvPr/>
        </p:nvPicPr>
        <p:blipFill>
          <a:blip r:embed="rId3"/>
          <a:stretch>
            <a:fillRect/>
          </a:stretch>
        </p:blipFill>
        <p:spPr>
          <a:xfrm>
            <a:off x="6492240" y="2131475"/>
            <a:ext cx="5212080" cy="21927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lang="en-US" sz="2600" b="1" i="0" dirty="0">
                <a:solidFill>
                  <a:srgbClr val="1A1A1A"/>
                </a:solidFill>
                <a:latin typeface="Century Gothic"/>
              </a:rPr>
              <a:t>Visualizing the Task Graph</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51560"/>
            <a:ext cx="5486400" cy="320040"/>
          </a:xfrm>
          <a:prstGeom prst="rect">
            <a:avLst/>
          </a:prstGeom>
          <a:noFill/>
        </p:spPr>
        <p:txBody>
          <a:bodyPr wrap="square" anchor="t"/>
          <a:lstStyle/>
          <a:p>
            <a:pPr algn="l">
              <a:spcBef>
                <a:spcPts val="0"/>
              </a:spcBef>
              <a:spcAft>
                <a:spcPts val="0"/>
              </a:spcAft>
            </a:pPr>
            <a:r>
              <a:rPr sz="1400" b="1" i="0">
                <a:solidFill>
                  <a:srgbClr val="5C5C5C"/>
                </a:solidFill>
                <a:latin typeface="Arial"/>
              </a:rPr>
              <a:t>One call = one task. Nothing to parallelize.</a:t>
            </a:r>
          </a:p>
        </p:txBody>
      </p:sp>
      <p:pic>
        <p:nvPicPr>
          <p:cNvPr id="6" name="Picture 5" descr="A diagram depicting a function named &quot;calculate_pi&quot; within a circular shape. An arrow points from a rectangular box above to the circle, indicating a process related to the function."/>
          <p:cNvPicPr>
            <a:picLocks noChangeAspect="1"/>
          </p:cNvPicPr>
          <p:nvPr/>
        </p:nvPicPr>
        <p:blipFill>
          <a:blip r:embed="rId3"/>
          <a:stretch>
            <a:fillRect/>
          </a:stretch>
        </p:blipFill>
        <p:spPr>
          <a:xfrm>
            <a:off x="2458578" y="1371600"/>
            <a:ext cx="1392203" cy="1965960"/>
          </a:xfrm>
          <a:prstGeom prst="rect">
            <a:avLst/>
          </a:prstGeom>
        </p:spPr>
      </p:pic>
      <p:sp>
        <p:nvSpPr>
          <p:cNvPr id="7" name="TextBox 6"/>
          <p:cNvSpPr txBox="1"/>
          <p:nvPr/>
        </p:nvSpPr>
        <p:spPr>
          <a:xfrm>
            <a:off x="6126480" y="1051560"/>
            <a:ext cx="5577840" cy="320040"/>
          </a:xfrm>
          <a:prstGeom prst="rect">
            <a:avLst/>
          </a:prstGeom>
          <a:noFill/>
        </p:spPr>
        <p:txBody>
          <a:bodyPr wrap="square" anchor="t"/>
          <a:lstStyle/>
          <a:p>
            <a:pPr algn="l">
              <a:spcBef>
                <a:spcPts val="0"/>
              </a:spcBef>
              <a:spcAft>
                <a:spcPts val="0"/>
              </a:spcAft>
            </a:pPr>
            <a:r>
              <a:rPr sz="1400" b="1" i="0">
                <a:solidFill>
                  <a:srgbClr val="007A87"/>
                </a:solidFill>
                <a:latin typeface="Arial"/>
              </a:rPr>
              <a:t>Five independent calls = five workers can go at once.</a:t>
            </a:r>
          </a:p>
        </p:txBody>
      </p:sp>
      <p:pic>
        <p:nvPicPr>
          <p:cNvPr id="8" name="Picture 7" descr="A diagram showing four circular shapes labeled &quot;calculate_pi&quot; connected by arrows pointing upwards to rectangular nodes, indicating a flow or process related to the calculation of pi. "/>
          <p:cNvPicPr>
            <a:picLocks noChangeAspect="1"/>
          </p:cNvPicPr>
          <p:nvPr/>
        </p:nvPicPr>
        <p:blipFill>
          <a:blip r:embed="rId4"/>
          <a:stretch>
            <a:fillRect/>
          </a:stretch>
        </p:blipFill>
        <p:spPr>
          <a:xfrm>
            <a:off x="5989320" y="1522661"/>
            <a:ext cx="5760720" cy="1663836"/>
          </a:xfrm>
          <a:prstGeom prst="rect">
            <a:avLst/>
          </a:prstGeom>
        </p:spPr>
      </p:pic>
      <p:sp>
        <p:nvSpPr>
          <p:cNvPr id="9" name="Rounded Rectangle 8">
            <a:extLst>
              <a:ext uri="{C183D7F6-B498-43B3-948B-1728B52AA6E4}">
                <adec:decorative xmlns:adec="http://schemas.microsoft.com/office/drawing/2017/decorative" val="1"/>
              </a:ext>
            </a:extLst>
          </p:cNvPr>
          <p:cNvSpPr/>
          <p:nvPr/>
        </p:nvSpPr>
        <p:spPr>
          <a:xfrm>
            <a:off x="502920" y="3520440"/>
            <a:ext cx="11155680" cy="2148840"/>
          </a:xfrm>
          <a:prstGeom prst="roundRect">
            <a:avLst>
              <a:gd name="adj" fmla="val 6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descr="import dask&#10;results = [dask.delayed(calculate_pi)(10000 * (i + 1)) for i in range(5)]&#10;dask.visualize(results)     # inspect the graph first&#10;dask.compute(*results)      # then run it&#10;"/>
          <p:cNvSpPr txBox="1"/>
          <p:nvPr/>
        </p:nvSpPr>
        <p:spPr>
          <a:xfrm>
            <a:off x="868681" y="3922776"/>
            <a:ext cx="10789919" cy="1929384"/>
          </a:xfrm>
          <a:prstGeom prst="rect">
            <a:avLst/>
          </a:prstGeom>
          <a:noFill/>
        </p:spPr>
        <p:txBody>
          <a:bodyPr wrap="square">
            <a:spAutoFit/>
          </a:bodyPr>
          <a:lstStyle/>
          <a:p>
            <a:pPr algn="l">
              <a:spcBef>
                <a:spcPts val="100"/>
              </a:spcBef>
              <a:spcAft>
                <a:spcPts val="100"/>
              </a:spcAft>
            </a:pPr>
            <a:r>
              <a:rPr sz="1800" b="0" i="0" dirty="0">
                <a:solidFill>
                  <a:srgbClr val="E6EDF3"/>
                </a:solidFill>
                <a:latin typeface="Consolas"/>
              </a:rPr>
              <a:t>import </a:t>
            </a:r>
            <a:r>
              <a:rPr sz="1800" b="0" i="0" dirty="0" err="1">
                <a:solidFill>
                  <a:srgbClr val="E6EDF3"/>
                </a:solidFill>
                <a:latin typeface="Consolas"/>
              </a:rPr>
              <a:t>dask</a:t>
            </a:r>
            <a:endParaRPr sz="1800" b="0" i="0" dirty="0">
              <a:solidFill>
                <a:srgbClr val="E6EDF3"/>
              </a:solidFill>
              <a:latin typeface="Consolas"/>
            </a:endParaRPr>
          </a:p>
          <a:p>
            <a:pPr algn="l">
              <a:spcBef>
                <a:spcPts val="100"/>
              </a:spcBef>
              <a:spcAft>
                <a:spcPts val="100"/>
              </a:spcAft>
            </a:pPr>
            <a:r>
              <a:rPr sz="1800" b="0" i="0" dirty="0">
                <a:solidFill>
                  <a:srgbClr val="E6EDF3"/>
                </a:solidFill>
                <a:latin typeface="Consolas"/>
              </a:rPr>
              <a:t>results = [</a:t>
            </a:r>
            <a:r>
              <a:rPr sz="1800" b="0" i="0" dirty="0" err="1">
                <a:solidFill>
                  <a:srgbClr val="E6EDF3"/>
                </a:solidFill>
                <a:latin typeface="Consolas"/>
              </a:rPr>
              <a:t>dask.delayed</a:t>
            </a:r>
            <a:r>
              <a:rPr sz="1800" b="0" i="0" dirty="0">
                <a:solidFill>
                  <a:srgbClr val="E6EDF3"/>
                </a:solidFill>
                <a:latin typeface="Consolas"/>
              </a:rPr>
              <a:t>(</a:t>
            </a:r>
            <a:r>
              <a:rPr sz="1800" b="0" i="0" dirty="0" err="1">
                <a:solidFill>
                  <a:srgbClr val="E6EDF3"/>
                </a:solidFill>
                <a:latin typeface="Consolas"/>
              </a:rPr>
              <a:t>calculate_pi</a:t>
            </a:r>
            <a:r>
              <a:rPr sz="1800" b="0" i="0" dirty="0">
                <a:solidFill>
                  <a:srgbClr val="E6EDF3"/>
                </a:solidFill>
                <a:latin typeface="Consolas"/>
              </a:rPr>
              <a:t>)(10000 * (</a:t>
            </a:r>
            <a:r>
              <a:rPr sz="1800" b="0" i="0" dirty="0" err="1">
                <a:solidFill>
                  <a:srgbClr val="E6EDF3"/>
                </a:solidFill>
                <a:latin typeface="Consolas"/>
              </a:rPr>
              <a:t>i</a:t>
            </a:r>
            <a:r>
              <a:rPr sz="1800" b="0" i="0" dirty="0">
                <a:solidFill>
                  <a:srgbClr val="E6EDF3"/>
                </a:solidFill>
                <a:latin typeface="Consolas"/>
              </a:rPr>
              <a:t> + 1)) for </a:t>
            </a:r>
            <a:r>
              <a:rPr sz="1800" b="0" i="0" dirty="0" err="1">
                <a:solidFill>
                  <a:srgbClr val="E6EDF3"/>
                </a:solidFill>
                <a:latin typeface="Consolas"/>
              </a:rPr>
              <a:t>i</a:t>
            </a:r>
            <a:r>
              <a:rPr sz="1800" b="0" i="0" dirty="0">
                <a:solidFill>
                  <a:srgbClr val="E6EDF3"/>
                </a:solidFill>
                <a:latin typeface="Consolas"/>
              </a:rPr>
              <a:t> in range(5)]</a:t>
            </a:r>
          </a:p>
          <a:p>
            <a:pPr algn="l">
              <a:spcBef>
                <a:spcPts val="100"/>
              </a:spcBef>
              <a:spcAft>
                <a:spcPts val="100"/>
              </a:spcAft>
            </a:pPr>
            <a:r>
              <a:rPr sz="1800" b="0" i="0" dirty="0" err="1">
                <a:solidFill>
                  <a:srgbClr val="E6EDF3"/>
                </a:solidFill>
                <a:latin typeface="Consolas"/>
              </a:rPr>
              <a:t>dask.visualize</a:t>
            </a:r>
            <a:r>
              <a:rPr sz="1800" b="0" i="0" dirty="0">
                <a:solidFill>
                  <a:srgbClr val="E6EDF3"/>
                </a:solidFill>
                <a:latin typeface="Consolas"/>
              </a:rPr>
              <a:t>(results)     # inspect the graph first</a:t>
            </a:r>
          </a:p>
          <a:p>
            <a:pPr algn="l">
              <a:spcBef>
                <a:spcPts val="100"/>
              </a:spcBef>
              <a:spcAft>
                <a:spcPts val="100"/>
              </a:spcAft>
            </a:pPr>
            <a:r>
              <a:rPr sz="1800" b="0" i="0" dirty="0" err="1">
                <a:solidFill>
                  <a:srgbClr val="E6EDF3"/>
                </a:solidFill>
                <a:latin typeface="Consolas"/>
              </a:rPr>
              <a:t>dask.compute</a:t>
            </a:r>
            <a:r>
              <a:rPr sz="1800" b="0" i="0" dirty="0">
                <a:solidFill>
                  <a:srgbClr val="E6EDF3"/>
                </a:solidFill>
                <a:latin typeface="Consolas"/>
              </a:rPr>
              <a:t>(*results)      # then run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sz="3000" b="1" i="0">
                <a:solidFill>
                  <a:srgbClr val="1A1A1A"/>
                </a:solidFill>
                <a:latin typeface="Century Gothic"/>
              </a:rPr>
              <a:t>Dask Arrays: NumPy, in chunks</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 diagram showing a NumPy array and a Dask array. The NumPy array is represented as one large contiguous block of data, while the Dask array is divided into multiple smaller chunked blocks. This illustrates how Dask partitions arrays into chunks to enable parallel and out-of-core computation."/>
          <p:cNvPicPr>
            <a:picLocks noChangeAspect="1"/>
          </p:cNvPicPr>
          <p:nvPr/>
        </p:nvPicPr>
        <p:blipFill>
          <a:blip r:embed="rId3"/>
          <a:stretch>
            <a:fillRect/>
          </a:stretch>
        </p:blipFill>
        <p:spPr>
          <a:xfrm>
            <a:off x="548639" y="1051560"/>
            <a:ext cx="4937760" cy="2468880"/>
          </a:xfrm>
          <a:prstGeom prst="rect">
            <a:avLst/>
          </a:prstGeom>
        </p:spPr>
      </p:pic>
      <p:sp>
        <p:nvSpPr>
          <p:cNvPr id="6" name="Rounded Rectangle 5">
            <a:extLst>
              <a:ext uri="{C183D7F6-B498-43B3-948B-1728B52AA6E4}">
                <adec:decorative xmlns:adec="http://schemas.microsoft.com/office/drawing/2017/decorative" val="1"/>
              </a:ext>
            </a:extLst>
          </p:cNvPr>
          <p:cNvSpPr/>
          <p:nvPr/>
        </p:nvSpPr>
        <p:spPr>
          <a:xfrm>
            <a:off x="5760720" y="1051560"/>
            <a:ext cx="5943600" cy="2468880"/>
          </a:xfrm>
          <a:prstGeom prst="roundRect">
            <a:avLst>
              <a:gd name="adj" fmla="val 6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descr="import dask.array as da&#10;&#10;x = da.random.random(&#10;    (10000, 10000), chunks=(1000, 1000)&#10;)&#10;y = (x + x.T).mean()   # still lazy&#10;y.compute()            # now it runs&#10;"/>
          <p:cNvSpPr txBox="1"/>
          <p:nvPr/>
        </p:nvSpPr>
        <p:spPr>
          <a:xfrm>
            <a:off x="5961888" y="1179576"/>
            <a:ext cx="5577840" cy="1969770"/>
          </a:xfrm>
          <a:prstGeom prst="rect">
            <a:avLst/>
          </a:prstGeom>
          <a:noFill/>
        </p:spPr>
        <p:txBody>
          <a:bodyPr wrap="square">
            <a:spAutoFit/>
          </a:bodyPr>
          <a:lstStyle/>
          <a:p>
            <a:pPr algn="l">
              <a:spcBef>
                <a:spcPts val="100"/>
              </a:spcBef>
              <a:spcAft>
                <a:spcPts val="100"/>
              </a:spcAft>
            </a:pPr>
            <a:r>
              <a:rPr sz="1600" b="0" i="0" dirty="0">
                <a:solidFill>
                  <a:srgbClr val="E6EDF3"/>
                </a:solidFill>
                <a:latin typeface="Consolas"/>
              </a:rPr>
              <a:t>import </a:t>
            </a:r>
            <a:r>
              <a:rPr sz="1600" b="0" i="0" dirty="0" err="1">
                <a:solidFill>
                  <a:srgbClr val="E6EDF3"/>
                </a:solidFill>
                <a:latin typeface="Consolas"/>
              </a:rPr>
              <a:t>dask.array</a:t>
            </a:r>
            <a:r>
              <a:rPr sz="1600" b="0" i="0" dirty="0">
                <a:solidFill>
                  <a:srgbClr val="E6EDF3"/>
                </a:solidFill>
                <a:latin typeface="Consolas"/>
              </a:rPr>
              <a:t> as da</a:t>
            </a:r>
          </a:p>
          <a:p>
            <a:pPr algn="l">
              <a:spcBef>
                <a:spcPts val="100"/>
              </a:spcBef>
              <a:spcAft>
                <a:spcPts val="100"/>
              </a:spcAft>
            </a:pPr>
            <a:endParaRPr sz="1600" b="0" i="0" dirty="0">
              <a:solidFill>
                <a:srgbClr val="E6EDF3"/>
              </a:solidFill>
              <a:latin typeface="Consolas"/>
            </a:endParaRPr>
          </a:p>
          <a:p>
            <a:pPr algn="l">
              <a:spcBef>
                <a:spcPts val="100"/>
              </a:spcBef>
              <a:spcAft>
                <a:spcPts val="100"/>
              </a:spcAft>
            </a:pPr>
            <a:r>
              <a:rPr sz="1600" b="0" i="0" dirty="0">
                <a:solidFill>
                  <a:srgbClr val="E6EDF3"/>
                </a:solidFill>
                <a:latin typeface="Consolas"/>
              </a:rPr>
              <a:t>x = </a:t>
            </a:r>
            <a:r>
              <a:rPr sz="1600" b="0" i="0" dirty="0" err="1">
                <a:solidFill>
                  <a:srgbClr val="E6EDF3"/>
                </a:solidFill>
                <a:latin typeface="Consolas"/>
              </a:rPr>
              <a:t>da.random.random</a:t>
            </a:r>
            <a:r>
              <a:rPr sz="1600" b="0" i="0" dirty="0">
                <a:solidFill>
                  <a:srgbClr val="E6EDF3"/>
                </a:solidFill>
                <a:latin typeface="Consolas"/>
              </a:rPr>
              <a:t>(</a:t>
            </a:r>
          </a:p>
          <a:p>
            <a:pPr algn="l">
              <a:spcBef>
                <a:spcPts val="100"/>
              </a:spcBef>
              <a:spcAft>
                <a:spcPts val="100"/>
              </a:spcAft>
            </a:pPr>
            <a:r>
              <a:rPr sz="1600" b="0" i="0" dirty="0">
                <a:solidFill>
                  <a:srgbClr val="E6EDF3"/>
                </a:solidFill>
                <a:latin typeface="Consolas"/>
              </a:rPr>
              <a:t>    (10000, 10000), chunks=(1000, 1000)</a:t>
            </a:r>
          </a:p>
          <a:p>
            <a:pPr algn="l">
              <a:spcBef>
                <a:spcPts val="100"/>
              </a:spcBef>
              <a:spcAft>
                <a:spcPts val="100"/>
              </a:spcAft>
            </a:pPr>
            <a:r>
              <a:rPr sz="1600" b="0" i="0" dirty="0">
                <a:solidFill>
                  <a:srgbClr val="E6EDF3"/>
                </a:solidFill>
                <a:latin typeface="Consolas"/>
              </a:rPr>
              <a:t>)</a:t>
            </a:r>
          </a:p>
          <a:p>
            <a:pPr algn="l">
              <a:spcBef>
                <a:spcPts val="100"/>
              </a:spcBef>
              <a:spcAft>
                <a:spcPts val="100"/>
              </a:spcAft>
            </a:pPr>
            <a:r>
              <a:rPr sz="1600" b="0" i="0" dirty="0">
                <a:solidFill>
                  <a:srgbClr val="E6EDF3"/>
                </a:solidFill>
                <a:latin typeface="Consolas"/>
              </a:rPr>
              <a:t>y = (x + </a:t>
            </a:r>
            <a:r>
              <a:rPr sz="1600" b="0" i="0" dirty="0" err="1">
                <a:solidFill>
                  <a:srgbClr val="E6EDF3"/>
                </a:solidFill>
                <a:latin typeface="Consolas"/>
              </a:rPr>
              <a:t>x.T</a:t>
            </a:r>
            <a:r>
              <a:rPr sz="1600" b="0" i="0" dirty="0">
                <a:solidFill>
                  <a:srgbClr val="E6EDF3"/>
                </a:solidFill>
                <a:latin typeface="Consolas"/>
              </a:rPr>
              <a:t>).mean()   # still lazy</a:t>
            </a:r>
          </a:p>
          <a:p>
            <a:pPr algn="l">
              <a:spcBef>
                <a:spcPts val="100"/>
              </a:spcBef>
              <a:spcAft>
                <a:spcPts val="100"/>
              </a:spcAft>
            </a:pPr>
            <a:r>
              <a:rPr sz="1600" b="0" i="0" dirty="0" err="1">
                <a:solidFill>
                  <a:srgbClr val="E6EDF3"/>
                </a:solidFill>
                <a:latin typeface="Consolas"/>
              </a:rPr>
              <a:t>y.compute</a:t>
            </a:r>
            <a:r>
              <a:rPr sz="1600" b="0" i="0" dirty="0">
                <a:solidFill>
                  <a:srgbClr val="E6EDF3"/>
                </a:solidFill>
                <a:latin typeface="Consolas"/>
              </a:rPr>
              <a:t>()            # now it runs</a:t>
            </a:r>
          </a:p>
        </p:txBody>
      </p:sp>
      <p:sp>
        <p:nvSpPr>
          <p:cNvPr id="8" name="TextBox 7"/>
          <p:cNvSpPr txBox="1"/>
          <p:nvPr/>
        </p:nvSpPr>
        <p:spPr>
          <a:xfrm>
            <a:off x="457200" y="3566160"/>
            <a:ext cx="2130490" cy="467360"/>
          </a:xfrm>
          <a:prstGeom prst="rect">
            <a:avLst/>
          </a:prstGeom>
          <a:noFill/>
        </p:spPr>
        <p:txBody>
          <a:bodyPr wrap="square" anchor="t"/>
          <a:lstStyle/>
          <a:p>
            <a:pPr algn="l">
              <a:spcBef>
                <a:spcPts val="0"/>
              </a:spcBef>
              <a:spcAft>
                <a:spcPts val="0"/>
              </a:spcAft>
            </a:pPr>
            <a:r>
              <a:rPr sz="1100" b="0" i="1" dirty="0">
                <a:solidFill>
                  <a:srgbClr val="5C5C5C"/>
                </a:solidFill>
                <a:latin typeface="Arial"/>
              </a:rPr>
              <a:t>One </a:t>
            </a:r>
            <a:r>
              <a:rPr sz="1100" b="0" i="1" dirty="0" err="1">
                <a:solidFill>
                  <a:srgbClr val="5C5C5C"/>
                </a:solidFill>
                <a:latin typeface="Arial"/>
              </a:rPr>
              <a:t>Dask</a:t>
            </a:r>
            <a:r>
              <a:rPr sz="1100" b="0" i="1" dirty="0">
                <a:solidFill>
                  <a:srgbClr val="5C5C5C"/>
                </a:solidFill>
                <a:latin typeface="Arial"/>
              </a:rPr>
              <a:t> Array = many NumPy chunks</a:t>
            </a:r>
          </a:p>
        </p:txBody>
      </p:sp>
      <p:pic>
        <p:nvPicPr>
          <p:cNvPr id="9" name="Picture 8" descr="A flowchart illustrating a 'sum-aggregate' function. The top node represents the function, branching into four nodes labeled '0', '1', '2', and '3'. Each of these nodes connects to another node labeled 'sum', which links to 'random_sample' nodes beneath. This is a visual represntation for how the array code works using dask."/>
          <p:cNvPicPr>
            <a:picLocks noChangeAspect="1"/>
          </p:cNvPicPr>
          <p:nvPr/>
        </p:nvPicPr>
        <p:blipFill>
          <a:blip r:embed="rId4"/>
          <a:stretch>
            <a:fillRect/>
          </a:stretch>
        </p:blipFill>
        <p:spPr>
          <a:xfrm>
            <a:off x="2596834" y="3520440"/>
            <a:ext cx="3026726" cy="2739188"/>
          </a:xfrm>
          <a:prstGeom prst="rect">
            <a:avLst/>
          </a:prstGeom>
        </p:spPr>
      </p:pic>
      <p:sp>
        <p:nvSpPr>
          <p:cNvPr id="12" name="Rounded Rectangle 5">
            <a:extLst>
              <a:ext uri="{FF2B5EF4-FFF2-40B4-BE49-F238E27FC236}">
                <a16:creationId xmlns:a16="http://schemas.microsoft.com/office/drawing/2014/main" id="{2C071E25-0578-05A9-FB80-F6C0D72E1B5C}"/>
              </a:ext>
              <a:ext uri="{C183D7F6-B498-43B3-948B-1728B52AA6E4}">
                <adec:decorative xmlns:adec="http://schemas.microsoft.com/office/drawing/2017/decorative" val="1"/>
              </a:ext>
            </a:extLst>
          </p:cNvPr>
          <p:cNvSpPr/>
          <p:nvPr/>
        </p:nvSpPr>
        <p:spPr>
          <a:xfrm>
            <a:off x="6020943" y="3769359"/>
            <a:ext cx="4534408" cy="2458720"/>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descr="Works like NumPy arrays but can handle data larger than memory. &#10;Splits large arrays into smaller chunks and processes them in parallel.&#10;Operations on different chunks run simultaneously across CPU cores or workers.&#10;">
            <a:extLst>
              <a:ext uri="{FF2B5EF4-FFF2-40B4-BE49-F238E27FC236}">
                <a16:creationId xmlns:a16="http://schemas.microsoft.com/office/drawing/2014/main" id="{F2199252-3B67-D6CF-9F5C-A4A9E0C4BB7D}"/>
              </a:ext>
            </a:extLst>
          </p:cNvPr>
          <p:cNvSpPr txBox="1"/>
          <p:nvPr/>
        </p:nvSpPr>
        <p:spPr>
          <a:xfrm>
            <a:off x="6294374" y="4044314"/>
            <a:ext cx="3987546" cy="1990725"/>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1600" dirty="0">
                <a:solidFill>
                  <a:srgbClr val="2F2F2F"/>
                </a:solidFill>
              </a:rPr>
              <a:t>Works like NumPy arrays but can handle data larger than memory. </a:t>
            </a:r>
          </a:p>
          <a:p>
            <a:pPr marL="285750" indent="-285750">
              <a:spcAft>
                <a:spcPts val="600"/>
              </a:spcAft>
              <a:buFont typeface="Arial" panose="020B0604020202020204" pitchFamily="34" charset="0"/>
              <a:buChar char="•"/>
            </a:pPr>
            <a:r>
              <a:rPr lang="en-US" sz="1600" dirty="0">
                <a:solidFill>
                  <a:srgbClr val="2F2F2F"/>
                </a:solidFill>
              </a:rPr>
              <a:t>Splits large arrays into smaller chunks and processes them in parallel.</a:t>
            </a:r>
          </a:p>
          <a:p>
            <a:pPr marL="285750" indent="-285750">
              <a:spcAft>
                <a:spcPts val="600"/>
              </a:spcAft>
              <a:buFont typeface="Arial" panose="020B0604020202020204" pitchFamily="34" charset="0"/>
              <a:buChar char="•"/>
            </a:pPr>
            <a:r>
              <a:rPr lang="en-US" sz="1600" dirty="0">
                <a:solidFill>
                  <a:srgbClr val="2F2F2F"/>
                </a:solidFill>
              </a:rPr>
              <a:t>Operations on different chunks run simultaneously across CPU cores or workers.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sz="3000" b="1" i="0" dirty="0" err="1">
                <a:solidFill>
                  <a:srgbClr val="1A1A1A"/>
                </a:solidFill>
                <a:latin typeface="Century Gothic"/>
              </a:rPr>
              <a:t>Dask</a:t>
            </a:r>
            <a:r>
              <a:rPr sz="3000" b="1" i="0" dirty="0">
                <a:solidFill>
                  <a:srgbClr val="1A1A1A"/>
                </a:solidFill>
                <a:latin typeface="Century Gothic"/>
              </a:rPr>
              <a:t> </a:t>
            </a:r>
            <a:r>
              <a:rPr sz="3000" b="1" i="0" dirty="0" err="1">
                <a:solidFill>
                  <a:srgbClr val="1A1A1A"/>
                </a:solidFill>
                <a:latin typeface="Century Gothic"/>
              </a:rPr>
              <a:t>DataFrames</a:t>
            </a:r>
            <a:r>
              <a:rPr sz="3000" b="1" i="0" dirty="0">
                <a:solidFill>
                  <a:srgbClr val="1A1A1A"/>
                </a:solidFill>
                <a:latin typeface="Century Gothic"/>
              </a:rPr>
              <a:t>: </a:t>
            </a:r>
            <a:r>
              <a:rPr lang="en-US" sz="3000" b="1" i="0" dirty="0">
                <a:solidFill>
                  <a:srgbClr val="1A1A1A"/>
                </a:solidFill>
                <a:latin typeface="Century Gothic"/>
              </a:rPr>
              <a:t>P</a:t>
            </a:r>
            <a:r>
              <a:rPr sz="3000" b="1" i="0" dirty="0">
                <a:solidFill>
                  <a:srgbClr val="1A1A1A"/>
                </a:solidFill>
                <a:latin typeface="Century Gothic"/>
              </a:rPr>
              <a:t>andas, in partitions</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ide-by-side diagram comparing a Pandas DataFrame and a Dask DataFrame. The Pandas DataFrame is shown as one complete table, while the Dask DataFrame is divided into multiple smaller partitions, each representing a subset of rows. This illustrates how Dask enables scalable and parallel processing of tabular data by partitioning large datasets."/>
          <p:cNvPicPr>
            <a:picLocks noChangeAspect="1"/>
          </p:cNvPicPr>
          <p:nvPr/>
        </p:nvPicPr>
        <p:blipFill>
          <a:blip r:embed="rId3"/>
          <a:stretch>
            <a:fillRect/>
          </a:stretch>
        </p:blipFill>
        <p:spPr>
          <a:xfrm>
            <a:off x="571499" y="1097280"/>
            <a:ext cx="4709160" cy="4297680"/>
          </a:xfrm>
          <a:prstGeom prst="rect">
            <a:avLst/>
          </a:prstGeom>
        </p:spPr>
      </p:pic>
      <p:sp>
        <p:nvSpPr>
          <p:cNvPr id="6" name="Rounded Rectangle 5">
            <a:extLst>
              <a:ext uri="{C183D7F6-B498-43B3-948B-1728B52AA6E4}">
                <adec:decorative xmlns:adec="http://schemas.microsoft.com/office/drawing/2017/decorative" val="1"/>
              </a:ext>
            </a:extLst>
          </p:cNvPr>
          <p:cNvSpPr/>
          <p:nvPr/>
        </p:nvSpPr>
        <p:spPr>
          <a:xfrm>
            <a:off x="5623560" y="995680"/>
            <a:ext cx="6080760" cy="2924048"/>
          </a:xfrm>
          <a:prstGeom prst="roundRect">
            <a:avLst>
              <a:gd name="adj" fmla="val 6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descr="import dask.dataframe as dd&#10;&#10;df = dd.read_csv('data/file.csv')   # lazy&#10;filtered = df[df['column'] &gt; 10]&#10;grouped = filtered.groupby('category').mean()&#10;&#10;result = grouped.compute()   # pandas DataFrame&#10;"/>
          <p:cNvSpPr txBox="1"/>
          <p:nvPr/>
        </p:nvSpPr>
        <p:spPr>
          <a:xfrm>
            <a:off x="5806440" y="1306575"/>
            <a:ext cx="5715000" cy="2339102"/>
          </a:xfrm>
          <a:prstGeom prst="rect">
            <a:avLst/>
          </a:prstGeom>
          <a:noFill/>
        </p:spPr>
        <p:txBody>
          <a:bodyPr wrap="square">
            <a:spAutoFit/>
          </a:bodyPr>
          <a:lstStyle/>
          <a:p>
            <a:pPr algn="l">
              <a:spcBef>
                <a:spcPts val="100"/>
              </a:spcBef>
              <a:spcAft>
                <a:spcPts val="100"/>
              </a:spcAft>
            </a:pPr>
            <a:r>
              <a:rPr sz="1700" b="0" i="0" dirty="0">
                <a:solidFill>
                  <a:srgbClr val="E6EDF3"/>
                </a:solidFill>
                <a:latin typeface="Consolas"/>
              </a:rPr>
              <a:t>import </a:t>
            </a:r>
            <a:r>
              <a:rPr sz="1700" b="0" i="0" dirty="0" err="1">
                <a:solidFill>
                  <a:srgbClr val="E6EDF3"/>
                </a:solidFill>
                <a:latin typeface="Consolas"/>
              </a:rPr>
              <a:t>dask.dataframe</a:t>
            </a:r>
            <a:r>
              <a:rPr sz="1700" b="0" i="0" dirty="0">
                <a:solidFill>
                  <a:srgbClr val="E6EDF3"/>
                </a:solidFill>
                <a:latin typeface="Consolas"/>
              </a:rPr>
              <a:t> as dd</a:t>
            </a:r>
          </a:p>
          <a:p>
            <a:pPr algn="l">
              <a:spcBef>
                <a:spcPts val="100"/>
              </a:spcBef>
              <a:spcAft>
                <a:spcPts val="100"/>
              </a:spcAft>
            </a:pPr>
            <a:endParaRPr sz="1700" b="0" i="0" dirty="0">
              <a:solidFill>
                <a:srgbClr val="E6EDF3"/>
              </a:solidFill>
              <a:latin typeface="Consolas"/>
            </a:endParaRPr>
          </a:p>
          <a:p>
            <a:pPr algn="l">
              <a:spcBef>
                <a:spcPts val="100"/>
              </a:spcBef>
              <a:spcAft>
                <a:spcPts val="100"/>
              </a:spcAft>
            </a:pPr>
            <a:r>
              <a:rPr sz="1700" b="0" i="0" dirty="0" err="1">
                <a:solidFill>
                  <a:srgbClr val="E6EDF3"/>
                </a:solidFill>
                <a:latin typeface="Consolas"/>
              </a:rPr>
              <a:t>df</a:t>
            </a:r>
            <a:r>
              <a:rPr sz="1700" b="0" i="0" dirty="0">
                <a:solidFill>
                  <a:srgbClr val="E6EDF3"/>
                </a:solidFill>
                <a:latin typeface="Consolas"/>
              </a:rPr>
              <a:t> = </a:t>
            </a:r>
            <a:r>
              <a:rPr sz="1700" b="0" i="0" dirty="0" err="1">
                <a:solidFill>
                  <a:srgbClr val="E6EDF3"/>
                </a:solidFill>
                <a:latin typeface="Consolas"/>
              </a:rPr>
              <a:t>dd.read_csv</a:t>
            </a:r>
            <a:r>
              <a:rPr sz="1700" b="0" i="0" dirty="0">
                <a:solidFill>
                  <a:srgbClr val="E6EDF3"/>
                </a:solidFill>
                <a:latin typeface="Consolas"/>
              </a:rPr>
              <a:t>('data/file.csv')   # lazy</a:t>
            </a:r>
          </a:p>
          <a:p>
            <a:pPr algn="l">
              <a:spcBef>
                <a:spcPts val="100"/>
              </a:spcBef>
              <a:spcAft>
                <a:spcPts val="100"/>
              </a:spcAft>
            </a:pPr>
            <a:r>
              <a:rPr sz="1700" b="0" i="0" dirty="0">
                <a:solidFill>
                  <a:srgbClr val="E6EDF3"/>
                </a:solidFill>
                <a:latin typeface="Consolas"/>
              </a:rPr>
              <a:t>filtered = </a:t>
            </a:r>
            <a:r>
              <a:rPr sz="1700" b="0" i="0" dirty="0" err="1">
                <a:solidFill>
                  <a:srgbClr val="E6EDF3"/>
                </a:solidFill>
                <a:latin typeface="Consolas"/>
              </a:rPr>
              <a:t>df</a:t>
            </a:r>
            <a:r>
              <a:rPr sz="1700" b="0" i="0" dirty="0">
                <a:solidFill>
                  <a:srgbClr val="E6EDF3"/>
                </a:solidFill>
                <a:latin typeface="Consolas"/>
              </a:rPr>
              <a:t>[</a:t>
            </a:r>
            <a:r>
              <a:rPr sz="1700" b="0" i="0" dirty="0" err="1">
                <a:solidFill>
                  <a:srgbClr val="E6EDF3"/>
                </a:solidFill>
                <a:latin typeface="Consolas"/>
              </a:rPr>
              <a:t>df</a:t>
            </a:r>
            <a:r>
              <a:rPr sz="1700" b="0" i="0" dirty="0">
                <a:solidFill>
                  <a:srgbClr val="E6EDF3"/>
                </a:solidFill>
                <a:latin typeface="Consolas"/>
              </a:rPr>
              <a:t>['column'] &gt; 10]</a:t>
            </a:r>
          </a:p>
          <a:p>
            <a:pPr algn="l">
              <a:spcBef>
                <a:spcPts val="100"/>
              </a:spcBef>
              <a:spcAft>
                <a:spcPts val="100"/>
              </a:spcAft>
            </a:pPr>
            <a:r>
              <a:rPr sz="1700" b="0" i="0" dirty="0">
                <a:solidFill>
                  <a:srgbClr val="E6EDF3"/>
                </a:solidFill>
                <a:latin typeface="Consolas"/>
              </a:rPr>
              <a:t>grouped = </a:t>
            </a:r>
            <a:r>
              <a:rPr sz="1700" b="0" i="0" dirty="0" err="1">
                <a:solidFill>
                  <a:srgbClr val="E6EDF3"/>
                </a:solidFill>
                <a:latin typeface="Consolas"/>
              </a:rPr>
              <a:t>filtered.groupby</a:t>
            </a:r>
            <a:r>
              <a:rPr sz="1700" b="0" i="0" dirty="0">
                <a:solidFill>
                  <a:srgbClr val="E6EDF3"/>
                </a:solidFill>
                <a:latin typeface="Consolas"/>
              </a:rPr>
              <a:t>('category').mean()</a:t>
            </a:r>
          </a:p>
          <a:p>
            <a:pPr algn="l">
              <a:spcBef>
                <a:spcPts val="100"/>
              </a:spcBef>
              <a:spcAft>
                <a:spcPts val="100"/>
              </a:spcAft>
            </a:pPr>
            <a:endParaRPr sz="1700" b="0" i="0" dirty="0">
              <a:solidFill>
                <a:srgbClr val="E6EDF3"/>
              </a:solidFill>
              <a:latin typeface="Consolas"/>
            </a:endParaRPr>
          </a:p>
          <a:p>
            <a:pPr algn="l">
              <a:spcBef>
                <a:spcPts val="100"/>
              </a:spcBef>
              <a:spcAft>
                <a:spcPts val="100"/>
              </a:spcAft>
            </a:pPr>
            <a:r>
              <a:rPr sz="1700" b="0" i="0" dirty="0">
                <a:solidFill>
                  <a:srgbClr val="E6EDF3"/>
                </a:solidFill>
                <a:latin typeface="Consolas"/>
              </a:rPr>
              <a:t>result = </a:t>
            </a:r>
            <a:r>
              <a:rPr sz="1700" b="0" i="0" dirty="0" err="1">
                <a:solidFill>
                  <a:srgbClr val="E6EDF3"/>
                </a:solidFill>
                <a:latin typeface="Consolas"/>
              </a:rPr>
              <a:t>grouped.compute</a:t>
            </a:r>
            <a:r>
              <a:rPr sz="1700" b="0" i="0" dirty="0">
                <a:solidFill>
                  <a:srgbClr val="E6EDF3"/>
                </a:solidFill>
                <a:latin typeface="Consolas"/>
              </a:rPr>
              <a:t>()   # pandas </a:t>
            </a:r>
            <a:r>
              <a:rPr sz="1700" b="0" i="0" dirty="0" err="1">
                <a:solidFill>
                  <a:srgbClr val="E6EDF3"/>
                </a:solidFill>
                <a:latin typeface="Consolas"/>
              </a:rPr>
              <a:t>DataFrame</a:t>
            </a:r>
            <a:endParaRPr sz="1700" b="0" i="0" dirty="0">
              <a:solidFill>
                <a:srgbClr val="E6EDF3"/>
              </a:solidFill>
              <a:latin typeface="Consolas"/>
            </a:endParaRPr>
          </a:p>
        </p:txBody>
      </p:sp>
      <p:sp>
        <p:nvSpPr>
          <p:cNvPr id="10" name="Rounded Rectangle 5">
            <a:extLst>
              <a:ext uri="{FF2B5EF4-FFF2-40B4-BE49-F238E27FC236}">
                <a16:creationId xmlns:a16="http://schemas.microsoft.com/office/drawing/2014/main" id="{08596790-6A7B-838C-BE9B-B2A824872F29}"/>
              </a:ext>
              <a:ext uri="{C183D7F6-B498-43B3-948B-1728B52AA6E4}">
                <adec:decorative xmlns:adec="http://schemas.microsoft.com/office/drawing/2017/decorative" val="1"/>
              </a:ext>
            </a:extLst>
          </p:cNvPr>
          <p:cNvSpPr/>
          <p:nvPr/>
        </p:nvSpPr>
        <p:spPr>
          <a:xfrm>
            <a:off x="5704840" y="4055872"/>
            <a:ext cx="4534408" cy="1877568"/>
          </a:xfrm>
          <a:prstGeom prst="roundRect">
            <a:avLst>
              <a:gd name="adj" fmla="val 8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descr="Splits a large DataFrame into smaller Pandas DataFrames called partitions.&#10;Follows lazy computations, so it delays computations until needed, allowing Dask to optimize the workflow.&#10;">
            <a:extLst>
              <a:ext uri="{FF2B5EF4-FFF2-40B4-BE49-F238E27FC236}">
                <a16:creationId xmlns:a16="http://schemas.microsoft.com/office/drawing/2014/main" id="{64C2BB7A-1494-14F9-E730-5A51ECCB8DF1}"/>
              </a:ext>
            </a:extLst>
          </p:cNvPr>
          <p:cNvSpPr txBox="1"/>
          <p:nvPr/>
        </p:nvSpPr>
        <p:spPr>
          <a:xfrm>
            <a:off x="5978271" y="4330827"/>
            <a:ext cx="3987546" cy="1400383"/>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1600" dirty="0">
                <a:solidFill>
                  <a:srgbClr val="2F2F2F"/>
                </a:solidFill>
              </a:rPr>
              <a:t>Splits a large </a:t>
            </a:r>
            <a:r>
              <a:rPr lang="en-US" sz="1600" dirty="0" err="1">
                <a:solidFill>
                  <a:srgbClr val="2F2F2F"/>
                </a:solidFill>
              </a:rPr>
              <a:t>DataFrame</a:t>
            </a:r>
            <a:r>
              <a:rPr lang="en-US" sz="1600" dirty="0">
                <a:solidFill>
                  <a:srgbClr val="2F2F2F"/>
                </a:solidFill>
              </a:rPr>
              <a:t> into smaller Pandas </a:t>
            </a:r>
            <a:r>
              <a:rPr lang="en-US" sz="1600" dirty="0" err="1">
                <a:solidFill>
                  <a:srgbClr val="2F2F2F"/>
                </a:solidFill>
              </a:rPr>
              <a:t>DataFrames</a:t>
            </a:r>
            <a:r>
              <a:rPr lang="en-US" sz="1600" dirty="0">
                <a:solidFill>
                  <a:srgbClr val="2F2F2F"/>
                </a:solidFill>
              </a:rPr>
              <a:t> called partitions.</a:t>
            </a:r>
          </a:p>
          <a:p>
            <a:pPr marL="285750" indent="-285750">
              <a:spcAft>
                <a:spcPts val="600"/>
              </a:spcAft>
              <a:buFont typeface="Arial" panose="020B0604020202020204" pitchFamily="34" charset="0"/>
              <a:buChar char="•"/>
            </a:pPr>
            <a:r>
              <a:rPr lang="en-US" sz="1600" dirty="0">
                <a:solidFill>
                  <a:srgbClr val="2F2F2F"/>
                </a:solidFill>
              </a:rPr>
              <a:t>Follows lazy computations, so it delays computations until needed, allowing </a:t>
            </a:r>
            <a:r>
              <a:rPr lang="en-US" sz="1600" dirty="0" err="1">
                <a:solidFill>
                  <a:srgbClr val="2F2F2F"/>
                </a:solidFill>
              </a:rPr>
              <a:t>Dask</a:t>
            </a:r>
            <a:r>
              <a:rPr lang="en-US" sz="1600" dirty="0">
                <a:solidFill>
                  <a:srgbClr val="2F2F2F"/>
                </a:solidFill>
              </a:rPr>
              <a:t> to optimize the workflow.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01168"/>
            <a:ext cx="11155680" cy="658368"/>
          </a:xfrm>
        </p:spPr>
        <p:txBody>
          <a:bodyPr wrap="square" anchor="ctr"/>
          <a:lstStyle/>
          <a:p>
            <a:pPr algn="l"/>
            <a:r>
              <a:rPr lang="en-US" sz="2600" b="1" i="0" dirty="0">
                <a:solidFill>
                  <a:srgbClr val="1A1A1A"/>
                </a:solidFill>
                <a:latin typeface="Century Gothic"/>
              </a:rPr>
              <a:t>Demo</a:t>
            </a:r>
            <a:r>
              <a:rPr sz="2600" b="1" i="0" dirty="0">
                <a:solidFill>
                  <a:srgbClr val="1A1A1A"/>
                </a:solidFill>
                <a:latin typeface="Century Gothic"/>
              </a:rPr>
              <a:t>·</a:t>
            </a:r>
          </a:p>
        </p:txBody>
      </p:sp>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2920" y="877824"/>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C183D7F6-B498-43B3-948B-1728B52AA6E4}">
                <adec:decorative xmlns:adec="http://schemas.microsoft.com/office/drawing/2017/decorative" val="1"/>
              </a:ext>
            </a:extLst>
          </p:cNvPr>
          <p:cNvSpPr/>
          <p:nvPr/>
        </p:nvSpPr>
        <p:spPr>
          <a:xfrm>
            <a:off x="502920" y="1078992"/>
            <a:ext cx="11155680" cy="777240"/>
          </a:xfrm>
          <a:prstGeom prst="roundRect">
            <a:avLst>
              <a:gd name="adj" fmla="val 10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a:extLst>
              <a:ext uri="{C183D7F6-B498-43B3-948B-1728B52AA6E4}">
                <adec:decorative xmlns:adec="http://schemas.microsoft.com/office/drawing/2017/decorative" val="1"/>
              </a:ext>
            </a:extLst>
          </p:cNvPr>
          <p:cNvSpPr/>
          <p:nvPr/>
        </p:nvSpPr>
        <p:spPr>
          <a:xfrm>
            <a:off x="713232" y="1243584"/>
            <a:ext cx="457200" cy="457200"/>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316736"/>
            <a:ext cx="457200" cy="329184"/>
          </a:xfrm>
          <a:prstGeom prst="rect">
            <a:avLst/>
          </a:prstGeom>
          <a:noFill/>
        </p:spPr>
        <p:txBody>
          <a:bodyPr wrap="square" anchor="t"/>
          <a:lstStyle/>
          <a:p>
            <a:pPr algn="ctr">
              <a:spcBef>
                <a:spcPts val="0"/>
              </a:spcBef>
              <a:spcAft>
                <a:spcPts val="0"/>
              </a:spcAft>
            </a:pPr>
            <a:r>
              <a:rPr sz="1600" b="1" i="0">
                <a:solidFill>
                  <a:srgbClr val="1A1A1A"/>
                </a:solidFill>
                <a:latin typeface="Arial"/>
              </a:rPr>
              <a:t>1</a:t>
            </a:r>
          </a:p>
        </p:txBody>
      </p:sp>
      <p:sp>
        <p:nvSpPr>
          <p:cNvPr id="8" name="TextBox 7"/>
          <p:cNvSpPr txBox="1"/>
          <p:nvPr/>
        </p:nvSpPr>
        <p:spPr>
          <a:xfrm>
            <a:off x="1371600" y="1170432"/>
            <a:ext cx="9875520" cy="292608"/>
          </a:xfrm>
          <a:prstGeom prst="rect">
            <a:avLst/>
          </a:prstGeom>
          <a:noFill/>
        </p:spPr>
        <p:txBody>
          <a:bodyPr wrap="square" anchor="t"/>
          <a:lstStyle/>
          <a:p>
            <a:pPr algn="l">
              <a:spcBef>
                <a:spcPts val="0"/>
              </a:spcBef>
              <a:spcAft>
                <a:spcPts val="0"/>
              </a:spcAft>
            </a:pPr>
            <a:r>
              <a:rPr sz="1800" b="1" i="0">
                <a:solidFill>
                  <a:srgbClr val="1A1A1A"/>
                </a:solidFill>
                <a:latin typeface="Century Gothic"/>
              </a:rPr>
              <a:t>Open OnDemand</a:t>
            </a:r>
          </a:p>
        </p:txBody>
      </p:sp>
      <p:sp>
        <p:nvSpPr>
          <p:cNvPr id="9" name="TextBox 8"/>
          <p:cNvSpPr txBox="1"/>
          <p:nvPr/>
        </p:nvSpPr>
        <p:spPr>
          <a:xfrm>
            <a:off x="1371600" y="1481328"/>
            <a:ext cx="9875520" cy="292608"/>
          </a:xfrm>
          <a:prstGeom prst="rect">
            <a:avLst/>
          </a:prstGeom>
          <a:noFill/>
        </p:spPr>
        <p:txBody>
          <a:bodyPr wrap="square" anchor="t"/>
          <a:lstStyle/>
          <a:p>
            <a:pPr algn="l">
              <a:spcBef>
                <a:spcPts val="0"/>
              </a:spcBef>
              <a:spcAft>
                <a:spcPts val="0"/>
              </a:spcAft>
            </a:pPr>
            <a:r>
              <a:rPr sz="1400" b="0" i="0">
                <a:solidFill>
                  <a:srgbClr val="2F2F2F"/>
                </a:solidFill>
                <a:latin typeface="Arial"/>
              </a:rPr>
              <a:t>Jupyter session on Alpine with enough cores to see parallelism.</a:t>
            </a:r>
          </a:p>
        </p:txBody>
      </p:sp>
      <p:sp>
        <p:nvSpPr>
          <p:cNvPr id="10" name="Rounded Rectangle 9">
            <a:extLst>
              <a:ext uri="{C183D7F6-B498-43B3-948B-1728B52AA6E4}">
                <adec:decorative xmlns:adec="http://schemas.microsoft.com/office/drawing/2017/decorative" val="1"/>
              </a:ext>
            </a:extLst>
          </p:cNvPr>
          <p:cNvSpPr/>
          <p:nvPr/>
        </p:nvSpPr>
        <p:spPr>
          <a:xfrm>
            <a:off x="502920" y="1947672"/>
            <a:ext cx="11155680" cy="777240"/>
          </a:xfrm>
          <a:prstGeom prst="roundRect">
            <a:avLst>
              <a:gd name="adj" fmla="val 10000"/>
            </a:avLst>
          </a:prstGeom>
          <a:solidFill>
            <a:srgbClr val="FFFFFF"/>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C183D7F6-B498-43B3-948B-1728B52AA6E4}">
                <adec:decorative xmlns:adec="http://schemas.microsoft.com/office/drawing/2017/decorative" val="1"/>
              </a:ext>
            </a:extLst>
          </p:cNvPr>
          <p:cNvSpPr/>
          <p:nvPr/>
        </p:nvSpPr>
        <p:spPr>
          <a:xfrm>
            <a:off x="713232" y="2112264"/>
            <a:ext cx="457200" cy="457200"/>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2185415"/>
            <a:ext cx="457200" cy="329184"/>
          </a:xfrm>
          <a:prstGeom prst="rect">
            <a:avLst/>
          </a:prstGeom>
          <a:noFill/>
        </p:spPr>
        <p:txBody>
          <a:bodyPr wrap="square" anchor="t"/>
          <a:lstStyle/>
          <a:p>
            <a:pPr algn="ctr">
              <a:spcBef>
                <a:spcPts val="0"/>
              </a:spcBef>
              <a:spcAft>
                <a:spcPts val="0"/>
              </a:spcAft>
            </a:pPr>
            <a:r>
              <a:rPr sz="1600" b="1" i="0">
                <a:solidFill>
                  <a:srgbClr val="1A1A1A"/>
                </a:solidFill>
                <a:latin typeface="Arial"/>
              </a:rPr>
              <a:t>2</a:t>
            </a:r>
          </a:p>
        </p:txBody>
      </p:sp>
      <p:sp>
        <p:nvSpPr>
          <p:cNvPr id="13" name="TextBox 12"/>
          <p:cNvSpPr txBox="1"/>
          <p:nvPr/>
        </p:nvSpPr>
        <p:spPr>
          <a:xfrm>
            <a:off x="1371600" y="2039112"/>
            <a:ext cx="9875520" cy="292608"/>
          </a:xfrm>
          <a:prstGeom prst="rect">
            <a:avLst/>
          </a:prstGeom>
          <a:noFill/>
        </p:spPr>
        <p:txBody>
          <a:bodyPr wrap="square" anchor="t"/>
          <a:lstStyle/>
          <a:p>
            <a:pPr algn="l">
              <a:spcBef>
                <a:spcPts val="0"/>
              </a:spcBef>
              <a:spcAft>
                <a:spcPts val="0"/>
              </a:spcAft>
            </a:pPr>
            <a:r>
              <a:rPr sz="1800" b="1" i="0">
                <a:solidFill>
                  <a:srgbClr val="1A1A1A"/>
                </a:solidFill>
                <a:latin typeface="Century Gothic"/>
              </a:rPr>
              <a:t>LocalCluster + Client</a:t>
            </a:r>
          </a:p>
        </p:txBody>
      </p:sp>
      <p:sp>
        <p:nvSpPr>
          <p:cNvPr id="14" name="TextBox 13"/>
          <p:cNvSpPr txBox="1"/>
          <p:nvPr/>
        </p:nvSpPr>
        <p:spPr>
          <a:xfrm>
            <a:off x="1371600" y="2350008"/>
            <a:ext cx="9875520" cy="292608"/>
          </a:xfrm>
          <a:prstGeom prst="rect">
            <a:avLst/>
          </a:prstGeom>
          <a:noFill/>
        </p:spPr>
        <p:txBody>
          <a:bodyPr wrap="square" anchor="t"/>
          <a:lstStyle/>
          <a:p>
            <a:pPr algn="l">
              <a:spcBef>
                <a:spcPts val="0"/>
              </a:spcBef>
              <a:spcAft>
                <a:spcPts val="0"/>
              </a:spcAft>
            </a:pPr>
            <a:r>
              <a:rPr sz="1400" b="0" i="0">
                <a:solidFill>
                  <a:srgbClr val="2F2F2F"/>
                </a:solidFill>
                <a:latin typeface="Arial"/>
              </a:rPr>
              <a:t>Start workers, then connect. Confirm total threads.</a:t>
            </a:r>
          </a:p>
        </p:txBody>
      </p:sp>
      <p:sp>
        <p:nvSpPr>
          <p:cNvPr id="15" name="Rounded Rectangle 14">
            <a:extLst>
              <a:ext uri="{C183D7F6-B498-43B3-948B-1728B52AA6E4}">
                <adec:decorative xmlns:adec="http://schemas.microsoft.com/office/drawing/2017/decorative" val="1"/>
              </a:ext>
            </a:extLst>
          </p:cNvPr>
          <p:cNvSpPr/>
          <p:nvPr/>
        </p:nvSpPr>
        <p:spPr>
          <a:xfrm>
            <a:off x="502920" y="2816352"/>
            <a:ext cx="11155680" cy="777240"/>
          </a:xfrm>
          <a:prstGeom prst="roundRect">
            <a:avLst>
              <a:gd name="adj" fmla="val 10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C183D7F6-B498-43B3-948B-1728B52AA6E4}">
                <adec:decorative xmlns:adec="http://schemas.microsoft.com/office/drawing/2017/decorative" val="1"/>
              </a:ext>
            </a:extLst>
          </p:cNvPr>
          <p:cNvSpPr/>
          <p:nvPr/>
        </p:nvSpPr>
        <p:spPr>
          <a:xfrm>
            <a:off x="713232" y="2980944"/>
            <a:ext cx="457200" cy="457200"/>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3054096"/>
            <a:ext cx="457200" cy="329184"/>
          </a:xfrm>
          <a:prstGeom prst="rect">
            <a:avLst/>
          </a:prstGeom>
          <a:noFill/>
        </p:spPr>
        <p:txBody>
          <a:bodyPr wrap="square" anchor="t"/>
          <a:lstStyle/>
          <a:p>
            <a:pPr algn="ctr">
              <a:spcBef>
                <a:spcPts val="0"/>
              </a:spcBef>
              <a:spcAft>
                <a:spcPts val="0"/>
              </a:spcAft>
            </a:pPr>
            <a:r>
              <a:rPr sz="1600" b="1" i="0">
                <a:solidFill>
                  <a:srgbClr val="1A1A1A"/>
                </a:solidFill>
                <a:latin typeface="Arial"/>
              </a:rPr>
              <a:t>3</a:t>
            </a:r>
          </a:p>
        </p:txBody>
      </p:sp>
      <p:sp>
        <p:nvSpPr>
          <p:cNvPr id="18" name="TextBox 17"/>
          <p:cNvSpPr txBox="1"/>
          <p:nvPr/>
        </p:nvSpPr>
        <p:spPr>
          <a:xfrm>
            <a:off x="1371600" y="2907792"/>
            <a:ext cx="9875520" cy="292608"/>
          </a:xfrm>
          <a:prstGeom prst="rect">
            <a:avLst/>
          </a:prstGeom>
          <a:noFill/>
        </p:spPr>
        <p:txBody>
          <a:bodyPr wrap="square" anchor="t"/>
          <a:lstStyle/>
          <a:p>
            <a:pPr algn="l">
              <a:spcBef>
                <a:spcPts val="0"/>
              </a:spcBef>
              <a:spcAft>
                <a:spcPts val="0"/>
              </a:spcAft>
            </a:pPr>
            <a:r>
              <a:rPr sz="1800" b="1" i="0">
                <a:solidFill>
                  <a:srgbClr val="1A1A1A"/>
                </a:solidFill>
                <a:latin typeface="Century Gothic"/>
              </a:rPr>
              <a:t>Fix the dashboard URL</a:t>
            </a:r>
          </a:p>
        </p:txBody>
      </p:sp>
      <p:sp>
        <p:nvSpPr>
          <p:cNvPr id="19" name="TextBox 18"/>
          <p:cNvSpPr txBox="1"/>
          <p:nvPr/>
        </p:nvSpPr>
        <p:spPr>
          <a:xfrm>
            <a:off x="1371600" y="3218688"/>
            <a:ext cx="9875520" cy="292608"/>
          </a:xfrm>
          <a:prstGeom prst="rect">
            <a:avLst/>
          </a:prstGeom>
          <a:noFill/>
        </p:spPr>
        <p:txBody>
          <a:bodyPr wrap="square" anchor="t"/>
          <a:lstStyle/>
          <a:p>
            <a:pPr algn="l">
              <a:spcBef>
                <a:spcPts val="0"/>
              </a:spcBef>
              <a:spcAft>
                <a:spcPts val="0"/>
              </a:spcAft>
            </a:pPr>
            <a:r>
              <a:rPr sz="1400" b="0" i="0">
                <a:solidFill>
                  <a:srgbClr val="2F2F2F"/>
                </a:solidFill>
                <a:latin typeface="Arial"/>
              </a:rPr>
              <a:t>Session URL + /proxy/8787/status. Then open Task Stream.</a:t>
            </a:r>
          </a:p>
        </p:txBody>
      </p:sp>
      <p:sp>
        <p:nvSpPr>
          <p:cNvPr id="20" name="Rounded Rectangle 19">
            <a:extLst>
              <a:ext uri="{C183D7F6-B498-43B3-948B-1728B52AA6E4}">
                <adec:decorative xmlns:adec="http://schemas.microsoft.com/office/drawing/2017/decorative" val="1"/>
              </a:ext>
            </a:extLst>
          </p:cNvPr>
          <p:cNvSpPr/>
          <p:nvPr/>
        </p:nvSpPr>
        <p:spPr>
          <a:xfrm>
            <a:off x="502920" y="3685031"/>
            <a:ext cx="11155680" cy="777240"/>
          </a:xfrm>
          <a:prstGeom prst="roundRect">
            <a:avLst>
              <a:gd name="adj" fmla="val 10000"/>
            </a:avLst>
          </a:prstGeom>
          <a:solidFill>
            <a:srgbClr val="FFFFFF"/>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a:extLst>
              <a:ext uri="{C183D7F6-B498-43B3-948B-1728B52AA6E4}">
                <adec:decorative xmlns:adec="http://schemas.microsoft.com/office/drawing/2017/decorative" val="1"/>
              </a:ext>
            </a:extLst>
          </p:cNvPr>
          <p:cNvSpPr/>
          <p:nvPr/>
        </p:nvSpPr>
        <p:spPr>
          <a:xfrm>
            <a:off x="713232" y="3849623"/>
            <a:ext cx="457200" cy="457200"/>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 y="3922775"/>
            <a:ext cx="457200" cy="329184"/>
          </a:xfrm>
          <a:prstGeom prst="rect">
            <a:avLst/>
          </a:prstGeom>
          <a:noFill/>
        </p:spPr>
        <p:txBody>
          <a:bodyPr wrap="square" anchor="t"/>
          <a:lstStyle/>
          <a:p>
            <a:pPr algn="ctr">
              <a:spcBef>
                <a:spcPts val="0"/>
              </a:spcBef>
              <a:spcAft>
                <a:spcPts val="0"/>
              </a:spcAft>
            </a:pPr>
            <a:r>
              <a:rPr sz="1600" b="1" i="0">
                <a:solidFill>
                  <a:srgbClr val="1A1A1A"/>
                </a:solidFill>
                <a:latin typeface="Arial"/>
              </a:rPr>
              <a:t>4</a:t>
            </a:r>
          </a:p>
        </p:txBody>
      </p:sp>
      <p:sp>
        <p:nvSpPr>
          <p:cNvPr id="23" name="TextBox 22"/>
          <p:cNvSpPr txBox="1"/>
          <p:nvPr/>
        </p:nvSpPr>
        <p:spPr>
          <a:xfrm>
            <a:off x="1371600" y="3776471"/>
            <a:ext cx="9875520" cy="292608"/>
          </a:xfrm>
          <a:prstGeom prst="rect">
            <a:avLst/>
          </a:prstGeom>
          <a:noFill/>
        </p:spPr>
        <p:txBody>
          <a:bodyPr wrap="square" anchor="t"/>
          <a:lstStyle/>
          <a:p>
            <a:pPr algn="l">
              <a:spcBef>
                <a:spcPts val="0"/>
              </a:spcBef>
              <a:spcAft>
                <a:spcPts val="0"/>
              </a:spcAft>
            </a:pPr>
            <a:r>
              <a:rPr sz="1800" b="1" i="0" dirty="0">
                <a:solidFill>
                  <a:srgbClr val="1A1A1A"/>
                </a:solidFill>
                <a:latin typeface="Century Gothic"/>
              </a:rPr>
              <a:t>Compute </a:t>
            </a:r>
            <a:r>
              <a:rPr lang="en-US" b="1" dirty="0">
                <a:solidFill>
                  <a:srgbClr val="1A1A1A"/>
                </a:solidFill>
                <a:latin typeface="Century Gothic"/>
              </a:rPr>
              <a:t>an array</a:t>
            </a:r>
            <a:endParaRPr sz="1800" b="1" i="0" dirty="0">
              <a:solidFill>
                <a:srgbClr val="1A1A1A"/>
              </a:solidFill>
              <a:latin typeface="Century Gothic"/>
            </a:endParaRPr>
          </a:p>
        </p:txBody>
      </p:sp>
      <p:sp>
        <p:nvSpPr>
          <p:cNvPr id="24" name="TextBox 23"/>
          <p:cNvSpPr txBox="1"/>
          <p:nvPr/>
        </p:nvSpPr>
        <p:spPr>
          <a:xfrm>
            <a:off x="1371600" y="4087368"/>
            <a:ext cx="9875520" cy="292608"/>
          </a:xfrm>
          <a:prstGeom prst="rect">
            <a:avLst/>
          </a:prstGeom>
          <a:noFill/>
        </p:spPr>
        <p:txBody>
          <a:bodyPr wrap="square" anchor="t"/>
          <a:lstStyle/>
          <a:p>
            <a:pPr algn="l">
              <a:spcBef>
                <a:spcPts val="0"/>
              </a:spcBef>
              <a:spcAft>
                <a:spcPts val="0"/>
              </a:spcAft>
            </a:pPr>
            <a:r>
              <a:rPr sz="1400" b="0" i="0" dirty="0" err="1">
                <a:solidFill>
                  <a:srgbClr val="2F2F2F"/>
                </a:solidFill>
                <a:latin typeface="Arial"/>
              </a:rPr>
              <a:t>Dask</a:t>
            </a:r>
            <a:r>
              <a:rPr sz="1400" b="0" i="0" dirty="0">
                <a:solidFill>
                  <a:srgbClr val="2F2F2F"/>
                </a:solidFill>
                <a:latin typeface="Arial"/>
              </a:rPr>
              <a:t> Array (x + </a:t>
            </a:r>
            <a:r>
              <a:rPr sz="1400" b="0" i="0" dirty="0" err="1">
                <a:solidFill>
                  <a:srgbClr val="2F2F2F"/>
                </a:solidFill>
                <a:latin typeface="Arial"/>
              </a:rPr>
              <a:t>x.T</a:t>
            </a:r>
            <a:r>
              <a:rPr sz="1400" b="0" i="0" dirty="0">
                <a:solidFill>
                  <a:srgbClr val="2F2F2F"/>
                </a:solidFill>
                <a:latin typeface="Arial"/>
              </a:rPr>
              <a:t>).mean()</a:t>
            </a:r>
            <a:r>
              <a:rPr lang="en-US" sz="1400" b="0" i="0" dirty="0">
                <a:solidFill>
                  <a:srgbClr val="2F2F2F"/>
                </a:solidFill>
                <a:latin typeface="Arial"/>
              </a:rPr>
              <a:t>, and</a:t>
            </a:r>
            <a:r>
              <a:rPr sz="1400" b="0" i="0" dirty="0">
                <a:solidFill>
                  <a:srgbClr val="2F2F2F"/>
                </a:solidFill>
                <a:latin typeface="Arial"/>
              </a:rPr>
              <a:t> watch chunks run in parallel.</a:t>
            </a:r>
          </a:p>
        </p:txBody>
      </p:sp>
      <p:sp>
        <p:nvSpPr>
          <p:cNvPr id="25" name="Rounded Rectangle 24">
            <a:extLst>
              <a:ext uri="{C183D7F6-B498-43B3-948B-1728B52AA6E4}">
                <adec:decorative xmlns:adec="http://schemas.microsoft.com/office/drawing/2017/decorative" val="1"/>
              </a:ext>
            </a:extLst>
          </p:cNvPr>
          <p:cNvSpPr/>
          <p:nvPr/>
        </p:nvSpPr>
        <p:spPr>
          <a:xfrm>
            <a:off x="502920" y="4553712"/>
            <a:ext cx="11155680" cy="777240"/>
          </a:xfrm>
          <a:prstGeom prst="roundRect">
            <a:avLst>
              <a:gd name="adj" fmla="val 10000"/>
            </a:avLst>
          </a:prstGeom>
          <a:solidFill>
            <a:srgbClr val="F7F4EC"/>
          </a:solidFill>
          <a:ln w="12700">
            <a:solidFill>
              <a:srgbClr val="E2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C183D7F6-B498-43B3-948B-1728B52AA6E4}">
                <adec:decorative xmlns:adec="http://schemas.microsoft.com/office/drawing/2017/decorative" val="1"/>
              </a:ext>
            </a:extLst>
          </p:cNvPr>
          <p:cNvSpPr/>
          <p:nvPr/>
        </p:nvSpPr>
        <p:spPr>
          <a:xfrm>
            <a:off x="713232" y="4718303"/>
            <a:ext cx="457200" cy="457200"/>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4791455"/>
            <a:ext cx="457200" cy="329184"/>
          </a:xfrm>
          <a:prstGeom prst="rect">
            <a:avLst/>
          </a:prstGeom>
          <a:noFill/>
        </p:spPr>
        <p:txBody>
          <a:bodyPr wrap="square" anchor="t"/>
          <a:lstStyle/>
          <a:p>
            <a:pPr algn="ctr">
              <a:spcBef>
                <a:spcPts val="0"/>
              </a:spcBef>
              <a:spcAft>
                <a:spcPts val="0"/>
              </a:spcAft>
            </a:pPr>
            <a:r>
              <a:rPr sz="1600" b="1" i="0">
                <a:solidFill>
                  <a:srgbClr val="1A1A1A"/>
                </a:solidFill>
                <a:latin typeface="Arial"/>
              </a:rPr>
              <a:t>5</a:t>
            </a:r>
          </a:p>
        </p:txBody>
      </p:sp>
      <p:sp>
        <p:nvSpPr>
          <p:cNvPr id="28" name="TextBox 27"/>
          <p:cNvSpPr txBox="1"/>
          <p:nvPr/>
        </p:nvSpPr>
        <p:spPr>
          <a:xfrm>
            <a:off x="1371600" y="4645151"/>
            <a:ext cx="9875520" cy="292608"/>
          </a:xfrm>
          <a:prstGeom prst="rect">
            <a:avLst/>
          </a:prstGeom>
          <a:noFill/>
        </p:spPr>
        <p:txBody>
          <a:bodyPr wrap="square" anchor="t"/>
          <a:lstStyle/>
          <a:p>
            <a:pPr algn="l">
              <a:spcBef>
                <a:spcPts val="0"/>
              </a:spcBef>
              <a:spcAft>
                <a:spcPts val="0"/>
              </a:spcAft>
            </a:pPr>
            <a:r>
              <a:rPr lang="en-US" sz="1800" b="1" i="0" dirty="0">
                <a:solidFill>
                  <a:srgbClr val="1A1A1A"/>
                </a:solidFill>
                <a:latin typeface="Century Gothic"/>
              </a:rPr>
              <a:t>Close the client</a:t>
            </a:r>
            <a:endParaRPr sz="1800" b="1" i="0" dirty="0">
              <a:solidFill>
                <a:srgbClr val="1A1A1A"/>
              </a:solidFill>
              <a:latin typeface="Century Gothic"/>
            </a:endParaRPr>
          </a:p>
        </p:txBody>
      </p:sp>
      <p:sp>
        <p:nvSpPr>
          <p:cNvPr id="29" name="TextBox 28"/>
          <p:cNvSpPr txBox="1"/>
          <p:nvPr/>
        </p:nvSpPr>
        <p:spPr>
          <a:xfrm>
            <a:off x="1371600" y="4956048"/>
            <a:ext cx="9875520" cy="292608"/>
          </a:xfrm>
          <a:prstGeom prst="rect">
            <a:avLst/>
          </a:prstGeom>
          <a:noFill/>
        </p:spPr>
        <p:txBody>
          <a:bodyPr wrap="square" anchor="t"/>
          <a:lstStyle/>
          <a:p>
            <a:pPr algn="l">
              <a:spcBef>
                <a:spcPts val="0"/>
              </a:spcBef>
              <a:spcAft>
                <a:spcPts val="0"/>
              </a:spcAft>
            </a:pPr>
            <a:r>
              <a:rPr sz="1400" b="0" i="0">
                <a:solidFill>
                  <a:srgbClr val="2F2F2F"/>
                </a:solidFill>
                <a:latin typeface="Arial"/>
              </a:rPr>
              <a:t>client.shutdown() so workers and memory are released.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0" y="0"/>
            <a:ext cx="12191695" cy="7315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C183D7F6-B498-43B3-948B-1728B52AA6E4}">
                <adec:decorative xmlns:adec="http://schemas.microsoft.com/office/drawing/2017/decorative" val="1"/>
              </a:ext>
            </a:extLst>
          </p:cNvPr>
          <p:cNvSpPr/>
          <p:nvPr/>
        </p:nvSpPr>
        <p:spPr>
          <a:xfrm>
            <a:off x="5088062" y="5381989"/>
            <a:ext cx="2011680" cy="50292"/>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oogle Shape;136;p19">
            <a:extLst>
              <a:ext uri="{FF2B5EF4-FFF2-40B4-BE49-F238E27FC236}">
                <a16:creationId xmlns:a16="http://schemas.microsoft.com/office/drawing/2014/main" id="{4E799E97-2422-FD20-0B8A-E8E7D14249A1}"/>
              </a:ext>
            </a:extLst>
          </p:cNvPr>
          <p:cNvSpPr txBox="1"/>
          <p:nvPr/>
        </p:nvSpPr>
        <p:spPr>
          <a:xfrm>
            <a:off x="4293006" y="4730057"/>
            <a:ext cx="3359418" cy="67707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3200" b="1" dirty="0">
                <a:latin typeface="Helvetica Neue"/>
                <a:ea typeface="Helvetica Neue"/>
                <a:cs typeface="Helvetica Neue"/>
                <a:sym typeface="Helvetica Neue"/>
              </a:rPr>
              <a:t>Any Questions</a:t>
            </a:r>
            <a:endParaRPr sz="3200" b="1" dirty="0">
              <a:latin typeface="Helvetica Neue"/>
              <a:ea typeface="Helvetica Neue"/>
              <a:cs typeface="Helvetica Neue"/>
              <a:sym typeface="Helvetica Neue"/>
            </a:endParaRPr>
          </a:p>
        </p:txBody>
      </p:sp>
      <p:pic>
        <p:nvPicPr>
          <p:cNvPr id="11" name="Graphic 10" descr="Questions with solid fill">
            <a:extLst>
              <a:ext uri="{FF2B5EF4-FFF2-40B4-BE49-F238E27FC236}">
                <a16:creationId xmlns:a16="http://schemas.microsoft.com/office/drawing/2014/main" id="{0CB1A892-ADD8-2263-8C7B-F603136A39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36502" y="920745"/>
            <a:ext cx="4114800" cy="4114800"/>
          </a:xfrm>
          <a:prstGeom prst="rect">
            <a:avLst/>
          </a:prstGeom>
        </p:spPr>
      </p:pic>
    </p:spTree>
  </p:cSld>
  <p:clrMapOvr>
    <a:masterClrMapping/>
  </p:clrMapOvr>
</p:sld>
</file>

<file path=ppt/theme/theme1.xml><?xml version="1.0" encoding="utf-8"?>
<a:theme xmlns:a="http://schemas.openxmlformats.org/drawingml/2006/main" name="CUB Content ">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7320DB280744439FF1CC777D09ECA4" ma:contentTypeVersion="15" ma:contentTypeDescription="Create a new document." ma:contentTypeScope="" ma:versionID="e50b92032c956cc777cf00ac7d475189">
  <xsd:schema xmlns:xsd="http://www.w3.org/2001/XMLSchema" xmlns:xs="http://www.w3.org/2001/XMLSchema" xmlns:p="http://schemas.microsoft.com/office/2006/metadata/properties" xmlns:ns2="7e49f7d3-8802-46ca-9604-495ce27f67f4" xmlns:ns3="a1519f9a-9d6a-41c1-afc9-552e4069f82f" xmlns:ns4="92c16b9d-8c83-445e-a4f4-1fe3d2f43f13" targetNamespace="http://schemas.microsoft.com/office/2006/metadata/properties" ma:root="true" ma:fieldsID="fcd7cab68a23f1df7b42ced4f3edf141" ns2:_="" ns3:_="" ns4:_="">
    <xsd:import namespace="7e49f7d3-8802-46ca-9604-495ce27f67f4"/>
    <xsd:import namespace="a1519f9a-9d6a-41c1-afc9-552e4069f82f"/>
    <xsd:import namespace="92c16b9d-8c83-445e-a4f4-1fe3d2f43f1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49f7d3-8802-46ca-9604-495ce27f67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2802cc5-2881-4dd7-9d75-38905e9cf7f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1519f9a-9d6a-41c1-afc9-552e4069f82f"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2c16b9d-8c83-445e-a4f4-1fe3d2f43f1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95373c19-887a-4e93-8582-23ebe3fe2f18}" ma:internalName="TaxCatchAll" ma:showField="CatchAllData" ma:web="a1519f9a-9d6a-41c1-afc9-552e4069f82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2c16b9d-8c83-445e-a4f4-1fe3d2f43f13" xsi:nil="true"/>
    <lcf76f155ced4ddcb4097134ff3c332f xmlns="7e49f7d3-8802-46ca-9604-495ce27f67f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BBC22CE-40EC-4545-8FE9-90326628051D}">
  <ds:schemaRefs>
    <ds:schemaRef ds:uri="7e49f7d3-8802-46ca-9604-495ce27f67f4"/>
    <ds:schemaRef ds:uri="92c16b9d-8c83-445e-a4f4-1fe3d2f43f13"/>
    <ds:schemaRef ds:uri="a1519f9a-9d6a-41c1-afc9-552e4069f82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6B4C708-AA43-4CE7-BE2D-F9D9A02F4940}">
  <ds:schemaRefs>
    <ds:schemaRef ds:uri="http://schemas.microsoft.com/sharepoint/v3/contenttype/forms"/>
  </ds:schemaRefs>
</ds:datastoreItem>
</file>

<file path=customXml/itemProps3.xml><?xml version="1.0" encoding="utf-8"?>
<ds:datastoreItem xmlns:ds="http://schemas.openxmlformats.org/officeDocument/2006/customXml" ds:itemID="{4AB02FF4-25A1-49FE-9DF7-DD19F525B7FA}">
  <ds:schemaRefs>
    <ds:schemaRef ds:uri="http://purl.org/dc/elements/1.1/"/>
    <ds:schemaRef ds:uri="a1519f9a-9d6a-41c1-afc9-552e4069f82f"/>
    <ds:schemaRef ds:uri="http://www.w3.org/XML/1998/namespace"/>
    <ds:schemaRef ds:uri="92c16b9d-8c83-445e-a4f4-1fe3d2f43f13"/>
    <ds:schemaRef ds:uri="7e49f7d3-8802-46ca-9604-495ce27f67f4"/>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otalTime>10231</TotalTime>
  <Words>1067</Words>
  <Application>Microsoft Macintosh PowerPoint</Application>
  <PresentationFormat>Widescreen</PresentationFormat>
  <Paragraphs>138</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Century Gothic</vt:lpstr>
      <vt:lpstr>Consolas</vt:lpstr>
      <vt:lpstr>Helvetica Neue</vt:lpstr>
      <vt:lpstr>CUB Content </vt:lpstr>
      <vt:lpstr>RC Quick Byte: Supercharge Your Python with Dask</vt:lpstr>
      <vt:lpstr>Supercharge Your Python with Dask</vt:lpstr>
      <vt:lpstr>What you’ll learn</vt:lpstr>
      <vt:lpstr>Python is great… until it isn’t</vt:lpstr>
      <vt:lpstr>What is Dask?</vt:lpstr>
      <vt:lpstr>Dask Distributed Cluster</vt:lpstr>
      <vt:lpstr>What that looks like</vt:lpstr>
      <vt:lpstr>Launch a local cluster from Open OnDemand</vt:lpstr>
      <vt:lpstr>The dashboard is your X-ray</vt:lpstr>
      <vt:lpstr>Caveat: the proxy URL</vt:lpstr>
      <vt:lpstr>Visualizing the Task Graph</vt:lpstr>
      <vt:lpstr>Dask Arrays: NumPy, in chunks</vt:lpstr>
      <vt:lpstr>Dask DataFrames: Pandas, in partitions</vt:lpstr>
      <vt:lpstr>Demo·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 Quick Byte: Supercharge Your Python with Dask</dc:title>
  <dc:subject>Lunch-n-Learn Quick Byte — September 8, 2026</dc:subject>
  <dc:creator>Mohal Khandelwal, CU Research Computing</dc:creator>
  <cp:lastModifiedBy>Michael Joseph Schneider</cp:lastModifiedBy>
  <cp:revision>28</cp:revision>
  <dcterms:created xsi:type="dcterms:W3CDTF">2023-01-13T17:07:22Z</dcterms:created>
  <dcterms:modified xsi:type="dcterms:W3CDTF">2026-09-04T15:56:28Z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0x010100DC7320DB280744439FF1CC777D09ECA4</vt:lpwstr>
  </property>
</Properties>
</file>